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4"/>
  </p:handoutMasterIdLst>
  <p:sldIdLst>
    <p:sldId id="257" r:id="rId3"/>
    <p:sldId id="258" r:id="rId4"/>
    <p:sldId id="256" r:id="rId5"/>
    <p:sldId id="259" r:id="rId7"/>
    <p:sldId id="265" r:id="rId8"/>
    <p:sldId id="266" r:id="rId9"/>
    <p:sldId id="260" r:id="rId10"/>
    <p:sldId id="263" r:id="rId11"/>
    <p:sldId id="261" r:id="rId12"/>
    <p:sldId id="26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5"/>
        <p:guide pos="38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-8255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260806 </a:t>
            </a:r>
            <a:r>
              <a:rPr lang="en-US" altLang="zh-CN"/>
              <a:t>SPI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208915" y="476885"/>
          <a:ext cx="8534400" cy="12255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4635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SPI</a:t>
                      </a:r>
                      <a:r>
                        <a:rPr lang="zh-CN" altLang="en-US"/>
                        <a:t>寄存器列表</a:t>
                      </a:r>
                      <a:r>
                        <a:rPr lang="zh-CN" altLang="en-US"/>
                        <a:t>整理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完成</a:t>
                      </a:r>
                      <a:r>
                        <a:rPr lang="zh-CN" altLang="en-US"/>
                        <a:t>✅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SPI</a:t>
                      </a:r>
                      <a:r>
                        <a:rPr lang="zh-CN" altLang="en-US"/>
                        <a:t>驱动器</a:t>
                      </a:r>
                      <a:r>
                        <a:rPr lang="zh-CN" altLang="en-US"/>
                        <a:t>硬件测试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进行中，</a:t>
                      </a:r>
                      <a:r>
                        <a:rPr lang="en-US" altLang="zh-CN"/>
                        <a:t> SPI</a:t>
                      </a:r>
                      <a:r>
                        <a:rPr lang="zh-CN" altLang="en-US"/>
                        <a:t>控制器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" y="1983740"/>
            <a:ext cx="3917315" cy="40805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31800" y="238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9PI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788795" y="119316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88795" y="242125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2703195" y="141541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554990" y="162115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17220" y="119316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>
            <a:off x="2703195" y="17614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830195" y="102108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11" name="文本框 10"/>
          <p:cNvSpPr txBox="1"/>
          <p:nvPr/>
        </p:nvSpPr>
        <p:spPr>
          <a:xfrm>
            <a:off x="2830195" y="141224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45</a:t>
            </a:r>
            <a:endParaRPr lang="en-US" altLang="zh-CN" sz="120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54990" y="278701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54990" y="229806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703195" y="265493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703195" y="30010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714625" y="233235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18" name="文本框 17"/>
          <p:cNvSpPr txBox="1"/>
          <p:nvPr/>
        </p:nvSpPr>
        <p:spPr>
          <a:xfrm>
            <a:off x="2714625" y="268097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225</a:t>
            </a:r>
            <a:endParaRPr lang="en-US" altLang="zh-CN" sz="1200"/>
          </a:p>
        </p:txBody>
      </p:sp>
      <p:sp>
        <p:nvSpPr>
          <p:cNvPr id="19" name="矩形 18"/>
          <p:cNvSpPr/>
          <p:nvPr/>
        </p:nvSpPr>
        <p:spPr>
          <a:xfrm>
            <a:off x="1732915" y="423608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32915" y="54641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647315" y="445833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99110" y="466407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61340" y="423608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647315" y="48044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703195" y="4106545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27" name="文本框 26"/>
          <p:cNvSpPr txBox="1"/>
          <p:nvPr/>
        </p:nvSpPr>
        <p:spPr>
          <a:xfrm>
            <a:off x="2647315" y="445516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135</a:t>
            </a:r>
            <a:endParaRPr lang="en-US" altLang="zh-CN" sz="12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99110" y="582993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99110" y="534098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647315" y="569785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2647315" y="60439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2703195" y="535495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33" name="文本框 32"/>
          <p:cNvSpPr txBox="1"/>
          <p:nvPr/>
        </p:nvSpPr>
        <p:spPr>
          <a:xfrm>
            <a:off x="2703195" y="570928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315</a:t>
            </a:r>
            <a:endParaRPr lang="en-US" altLang="zh-CN" sz="120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120775" y="195707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28930" y="1745615"/>
            <a:ext cx="1215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3bit</a:t>
            </a:r>
            <a:r>
              <a:rPr lang="zh-CN" altLang="en-US" sz="1400"/>
              <a:t>选择</a:t>
            </a:r>
            <a:r>
              <a:rPr lang="en-US" altLang="zh-CN" sz="1400"/>
              <a:t> I</a:t>
            </a:r>
            <a:r>
              <a:rPr lang="zh-CN" altLang="en-US" sz="1400"/>
              <a:t>路</a:t>
            </a:r>
            <a:endParaRPr lang="zh-CN" altLang="en-US" sz="1400"/>
          </a:p>
        </p:txBody>
      </p:sp>
      <p:cxnSp>
        <p:nvCxnSpPr>
          <p:cNvPr id="36" name="肘形连接符 35"/>
          <p:cNvCxnSpPr/>
          <p:nvPr/>
        </p:nvCxnSpPr>
        <p:spPr>
          <a:xfrm rot="5400000" flipV="1">
            <a:off x="1085215" y="2383790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18185" y="3098165"/>
            <a:ext cx="1248410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选择</a:t>
            </a:r>
            <a:r>
              <a:rPr lang="en-US" altLang="zh-CN" sz="900"/>
              <a:t>+4</a:t>
            </a:r>
            <a:r>
              <a:rPr lang="zh-CN" altLang="en-US" sz="900"/>
              <a:t>，差分</a:t>
            </a:r>
            <a:endParaRPr lang="zh-CN" altLang="en-US" sz="900"/>
          </a:p>
        </p:txBody>
      </p:sp>
      <p:cxnSp>
        <p:nvCxnSpPr>
          <p:cNvPr id="39" name="直接箭头连接符 38"/>
          <p:cNvCxnSpPr/>
          <p:nvPr/>
        </p:nvCxnSpPr>
        <p:spPr>
          <a:xfrm>
            <a:off x="1063625" y="496887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271780" y="4757420"/>
            <a:ext cx="1334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3bit</a:t>
            </a:r>
            <a:r>
              <a:rPr lang="zh-CN" altLang="en-US" sz="1400"/>
              <a:t>选择</a:t>
            </a:r>
            <a:r>
              <a:rPr lang="en-US" altLang="zh-CN" sz="1400"/>
              <a:t> Q</a:t>
            </a:r>
            <a:r>
              <a:rPr lang="zh-CN" altLang="en-US" sz="1400"/>
              <a:t>路</a:t>
            </a:r>
            <a:endParaRPr lang="zh-CN" altLang="en-US" sz="1400"/>
          </a:p>
        </p:txBody>
      </p:sp>
      <p:cxnSp>
        <p:nvCxnSpPr>
          <p:cNvPr id="41" name="肘形连接符 40"/>
          <p:cNvCxnSpPr/>
          <p:nvPr/>
        </p:nvCxnSpPr>
        <p:spPr>
          <a:xfrm rot="5400000" flipV="1">
            <a:off x="1028065" y="5395595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61035" y="6109970"/>
            <a:ext cx="1248410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选择</a:t>
            </a:r>
            <a:r>
              <a:rPr lang="en-US" altLang="zh-CN" sz="900"/>
              <a:t>+4</a:t>
            </a:r>
            <a:r>
              <a:rPr lang="zh-CN" altLang="en-US" sz="900"/>
              <a:t>，差分</a:t>
            </a:r>
            <a:endParaRPr lang="zh-CN" altLang="en-US" sz="900"/>
          </a:p>
        </p:txBody>
      </p:sp>
      <p:sp>
        <p:nvSpPr>
          <p:cNvPr id="43" name="矩形 42"/>
          <p:cNvSpPr/>
          <p:nvPr/>
        </p:nvSpPr>
        <p:spPr>
          <a:xfrm>
            <a:off x="4495800" y="108648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495800" y="240665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3926840" y="132143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3926840" y="1667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053840" y="92710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48" name="文本框 47"/>
          <p:cNvSpPr txBox="1"/>
          <p:nvPr/>
        </p:nvSpPr>
        <p:spPr>
          <a:xfrm>
            <a:off x="3886200" y="144653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45</a:t>
            </a:r>
            <a:endParaRPr lang="en-US" altLang="zh-CN" sz="1200"/>
          </a:p>
        </p:txBody>
      </p:sp>
      <p:cxnSp>
        <p:nvCxnSpPr>
          <p:cNvPr id="49" name="直接箭头连接符 48"/>
          <p:cNvCxnSpPr/>
          <p:nvPr/>
        </p:nvCxnSpPr>
        <p:spPr>
          <a:xfrm>
            <a:off x="3926840" y="256095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3926840" y="29070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3926840" y="2218690"/>
            <a:ext cx="609600" cy="264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52" name="文本框 51"/>
          <p:cNvSpPr txBox="1"/>
          <p:nvPr/>
        </p:nvSpPr>
        <p:spPr>
          <a:xfrm>
            <a:off x="3938270" y="258699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225</a:t>
            </a:r>
            <a:endParaRPr lang="en-US" altLang="zh-CN" sz="1200"/>
          </a:p>
        </p:txBody>
      </p:sp>
      <p:cxnSp>
        <p:nvCxnSpPr>
          <p:cNvPr id="53" name="直接箭头连接符 52"/>
          <p:cNvCxnSpPr/>
          <p:nvPr/>
        </p:nvCxnSpPr>
        <p:spPr>
          <a:xfrm>
            <a:off x="3926840" y="46215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3926840" y="496760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3982720" y="426974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56" name="文本框 55"/>
          <p:cNvSpPr txBox="1"/>
          <p:nvPr/>
        </p:nvSpPr>
        <p:spPr>
          <a:xfrm>
            <a:off x="3926840" y="461835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135</a:t>
            </a:r>
            <a:endParaRPr lang="en-US" altLang="zh-CN" sz="1200"/>
          </a:p>
        </p:txBody>
      </p:sp>
      <p:cxnSp>
        <p:nvCxnSpPr>
          <p:cNvPr id="57" name="直接箭头连接符 56"/>
          <p:cNvCxnSpPr/>
          <p:nvPr/>
        </p:nvCxnSpPr>
        <p:spPr>
          <a:xfrm>
            <a:off x="3926840" y="586105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3926840" y="620712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982720" y="551815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60" name="文本框 59"/>
          <p:cNvSpPr txBox="1"/>
          <p:nvPr/>
        </p:nvSpPr>
        <p:spPr>
          <a:xfrm>
            <a:off x="3982720" y="587248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315</a:t>
            </a:r>
            <a:endParaRPr lang="en-US" altLang="zh-CN" sz="1200"/>
          </a:p>
        </p:txBody>
      </p:sp>
      <p:sp>
        <p:nvSpPr>
          <p:cNvPr id="61" name="矩形 60"/>
          <p:cNvSpPr/>
          <p:nvPr/>
        </p:nvSpPr>
        <p:spPr>
          <a:xfrm>
            <a:off x="4495800" y="431736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62" name="矩形 61"/>
          <p:cNvSpPr/>
          <p:nvPr/>
        </p:nvSpPr>
        <p:spPr>
          <a:xfrm>
            <a:off x="4536440" y="551815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cxnSp>
        <p:nvCxnSpPr>
          <p:cNvPr id="63" name="直接箭头连接符 62"/>
          <p:cNvCxnSpPr/>
          <p:nvPr/>
        </p:nvCxnSpPr>
        <p:spPr>
          <a:xfrm>
            <a:off x="5410200" y="156146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5450840" y="286258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5410200" y="475742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5410200" y="587248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848735" y="186944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" name="肘形连接符 67"/>
          <p:cNvCxnSpPr/>
          <p:nvPr/>
        </p:nvCxnSpPr>
        <p:spPr>
          <a:xfrm rot="5400000" flipV="1">
            <a:off x="3813175" y="2296160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3612515" y="1942465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5bit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cxnSp>
        <p:nvCxnSpPr>
          <p:cNvPr id="70" name="直接箭头连接符 69"/>
          <p:cNvCxnSpPr/>
          <p:nvPr/>
        </p:nvCxnSpPr>
        <p:spPr>
          <a:xfrm>
            <a:off x="3826510" y="517334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肘形连接符 70"/>
          <p:cNvCxnSpPr/>
          <p:nvPr/>
        </p:nvCxnSpPr>
        <p:spPr>
          <a:xfrm rot="5400000" flipV="1">
            <a:off x="3790950" y="5600065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3590290" y="5246370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5bit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sp>
        <p:nvSpPr>
          <p:cNvPr id="73" name="矩形 72"/>
          <p:cNvSpPr/>
          <p:nvPr/>
        </p:nvSpPr>
        <p:spPr>
          <a:xfrm>
            <a:off x="7851140" y="126682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851140" y="249491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cxnSp>
        <p:nvCxnSpPr>
          <p:cNvPr id="75" name="直接箭头连接符 74"/>
          <p:cNvCxnSpPr/>
          <p:nvPr/>
        </p:nvCxnSpPr>
        <p:spPr>
          <a:xfrm>
            <a:off x="8765540" y="148907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6617335" y="169481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6679565" y="126682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78" name="直接箭头连接符 77"/>
          <p:cNvCxnSpPr/>
          <p:nvPr/>
        </p:nvCxnSpPr>
        <p:spPr>
          <a:xfrm>
            <a:off x="8765540" y="183515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8892540" y="109474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80" name="文本框 79"/>
          <p:cNvSpPr txBox="1"/>
          <p:nvPr/>
        </p:nvSpPr>
        <p:spPr>
          <a:xfrm>
            <a:off x="8892540" y="148590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cxnSp>
        <p:nvCxnSpPr>
          <p:cNvPr id="81" name="直接箭头连接符 80"/>
          <p:cNvCxnSpPr/>
          <p:nvPr/>
        </p:nvCxnSpPr>
        <p:spPr>
          <a:xfrm>
            <a:off x="6617335" y="286067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6617335" y="237172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83" name="直接箭头连接符 82"/>
          <p:cNvCxnSpPr/>
          <p:nvPr/>
        </p:nvCxnSpPr>
        <p:spPr>
          <a:xfrm>
            <a:off x="8765540" y="272859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8765540" y="307467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8776970" y="240601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86" name="文本框 85"/>
          <p:cNvSpPr txBox="1"/>
          <p:nvPr/>
        </p:nvSpPr>
        <p:spPr>
          <a:xfrm>
            <a:off x="8776970" y="275463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87" name="矩形 86"/>
          <p:cNvSpPr/>
          <p:nvPr/>
        </p:nvSpPr>
        <p:spPr>
          <a:xfrm>
            <a:off x="7795260" y="430974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795260" y="553783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>
            <a:off x="8709660" y="453199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6561455" y="473773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6623685" y="430974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92" name="直接箭头连接符 91"/>
          <p:cNvCxnSpPr/>
          <p:nvPr/>
        </p:nvCxnSpPr>
        <p:spPr>
          <a:xfrm>
            <a:off x="8709660" y="487807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8765540" y="4180205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94" name="文本框 93"/>
          <p:cNvSpPr txBox="1"/>
          <p:nvPr/>
        </p:nvSpPr>
        <p:spPr>
          <a:xfrm>
            <a:off x="8709660" y="452882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cxnSp>
        <p:nvCxnSpPr>
          <p:cNvPr id="95" name="直接箭头连接符 94"/>
          <p:cNvCxnSpPr/>
          <p:nvPr/>
        </p:nvCxnSpPr>
        <p:spPr>
          <a:xfrm>
            <a:off x="6561455" y="590359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>
          <a:xfrm>
            <a:off x="6561455" y="541464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97" name="直接箭头连接符 96"/>
          <p:cNvCxnSpPr/>
          <p:nvPr/>
        </p:nvCxnSpPr>
        <p:spPr>
          <a:xfrm>
            <a:off x="8709660" y="577151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8709660" y="61175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8765540" y="542861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100" name="文本框 99"/>
          <p:cNvSpPr txBox="1"/>
          <p:nvPr/>
        </p:nvSpPr>
        <p:spPr>
          <a:xfrm>
            <a:off x="8776970" y="582485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7183120" y="203073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6391275" y="1819275"/>
            <a:ext cx="1215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zh-CN" altLang="en-US" sz="1400"/>
          </a:p>
        </p:txBody>
      </p:sp>
      <p:cxnSp>
        <p:nvCxnSpPr>
          <p:cNvPr id="103" name="肘形连接符 102"/>
          <p:cNvCxnSpPr/>
          <p:nvPr/>
        </p:nvCxnSpPr>
        <p:spPr>
          <a:xfrm>
            <a:off x="6825615" y="3154680"/>
            <a:ext cx="1026795" cy="7620"/>
          </a:xfrm>
          <a:prstGeom prst="bentConnector3">
            <a:avLst>
              <a:gd name="adj1" fmla="val 50031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7125970" y="504253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6334125" y="4831080"/>
            <a:ext cx="1334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en-US" sz="1400"/>
          </a:p>
        </p:txBody>
      </p:sp>
      <p:cxnSp>
        <p:nvCxnSpPr>
          <p:cNvPr id="107" name="肘形连接符 106"/>
          <p:cNvCxnSpPr/>
          <p:nvPr/>
        </p:nvCxnSpPr>
        <p:spPr>
          <a:xfrm>
            <a:off x="6581775" y="6172200"/>
            <a:ext cx="1213485" cy="3175"/>
          </a:xfrm>
          <a:prstGeom prst="bentConnector3">
            <a:avLst>
              <a:gd name="adj1" fmla="val 50026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10558145" y="116014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0558145" y="248031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989185" y="139509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9989185" y="174117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10116185" y="100076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114" name="文本框 113"/>
          <p:cNvSpPr txBox="1"/>
          <p:nvPr/>
        </p:nvSpPr>
        <p:spPr>
          <a:xfrm>
            <a:off x="9948545" y="152019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9989185" y="263461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>
            <a:off x="9989185" y="29806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>
          <a:xfrm>
            <a:off x="9989185" y="2292350"/>
            <a:ext cx="609600" cy="264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118" name="文本框 117"/>
          <p:cNvSpPr txBox="1"/>
          <p:nvPr/>
        </p:nvSpPr>
        <p:spPr>
          <a:xfrm>
            <a:off x="10000615" y="266065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cxnSp>
        <p:nvCxnSpPr>
          <p:cNvPr id="119" name="直接箭头连接符 118"/>
          <p:cNvCxnSpPr/>
          <p:nvPr/>
        </p:nvCxnSpPr>
        <p:spPr>
          <a:xfrm>
            <a:off x="9989185" y="46951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9989185" y="504126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10045065" y="434340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122" name="文本框 121"/>
          <p:cNvSpPr txBox="1"/>
          <p:nvPr/>
        </p:nvSpPr>
        <p:spPr>
          <a:xfrm>
            <a:off x="9989185" y="469201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cxnSp>
        <p:nvCxnSpPr>
          <p:cNvPr id="123" name="直接箭头连接符 122"/>
          <p:cNvCxnSpPr/>
          <p:nvPr/>
        </p:nvCxnSpPr>
        <p:spPr>
          <a:xfrm>
            <a:off x="9989185" y="59347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>
            <a:off x="9989185" y="628078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10045065" y="559181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126" name="文本框 125"/>
          <p:cNvSpPr txBox="1"/>
          <p:nvPr/>
        </p:nvSpPr>
        <p:spPr>
          <a:xfrm>
            <a:off x="10045065" y="594614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127" name="矩形 126"/>
          <p:cNvSpPr/>
          <p:nvPr/>
        </p:nvSpPr>
        <p:spPr>
          <a:xfrm>
            <a:off x="10558145" y="439102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128" name="矩形 127"/>
          <p:cNvSpPr/>
          <p:nvPr/>
        </p:nvSpPr>
        <p:spPr>
          <a:xfrm>
            <a:off x="10598785" y="559181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cxnSp>
        <p:nvCxnSpPr>
          <p:cNvPr id="129" name="直接箭头连接符 128"/>
          <p:cNvCxnSpPr/>
          <p:nvPr/>
        </p:nvCxnSpPr>
        <p:spPr>
          <a:xfrm>
            <a:off x="11472545" y="163512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/>
        </p:nvCxnSpPr>
        <p:spPr>
          <a:xfrm>
            <a:off x="11513185" y="293624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11472545" y="483108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11472545" y="594614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9911080" y="194310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" name="肘形连接符 133"/>
          <p:cNvCxnSpPr/>
          <p:nvPr/>
        </p:nvCxnSpPr>
        <p:spPr>
          <a:xfrm flipV="1">
            <a:off x="10066655" y="3074670"/>
            <a:ext cx="513715" cy="8890"/>
          </a:xfrm>
          <a:prstGeom prst="bentConnector3">
            <a:avLst>
              <a:gd name="adj1" fmla="val 50062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5" name="文本框 134"/>
          <p:cNvSpPr txBox="1"/>
          <p:nvPr/>
        </p:nvSpPr>
        <p:spPr>
          <a:xfrm>
            <a:off x="9674860" y="2016125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cxnSp>
        <p:nvCxnSpPr>
          <p:cNvPr id="136" name="直接箭头连接符 135"/>
          <p:cNvCxnSpPr/>
          <p:nvPr/>
        </p:nvCxnSpPr>
        <p:spPr>
          <a:xfrm>
            <a:off x="9888855" y="524700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7" name="肘形连接符 136"/>
          <p:cNvCxnSpPr/>
          <p:nvPr/>
        </p:nvCxnSpPr>
        <p:spPr>
          <a:xfrm flipV="1">
            <a:off x="9690735" y="6378575"/>
            <a:ext cx="867410" cy="6985"/>
          </a:xfrm>
          <a:prstGeom prst="bentConnector3">
            <a:avLst>
              <a:gd name="adj1" fmla="val 50073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9386570" y="5090795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sp>
        <p:nvSpPr>
          <p:cNvPr id="139" name="文本框 138"/>
          <p:cNvSpPr txBox="1"/>
          <p:nvPr/>
        </p:nvSpPr>
        <p:spPr>
          <a:xfrm>
            <a:off x="6396990" y="3162300"/>
            <a:ext cx="1215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zh-CN" altLang="en-US" sz="1400"/>
          </a:p>
        </p:txBody>
      </p:sp>
      <p:sp>
        <p:nvSpPr>
          <p:cNvPr id="140" name="文本框 139"/>
          <p:cNvSpPr txBox="1"/>
          <p:nvPr/>
        </p:nvSpPr>
        <p:spPr>
          <a:xfrm>
            <a:off x="6334125" y="6067425"/>
            <a:ext cx="1334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en-US" sz="1400"/>
          </a:p>
        </p:txBody>
      </p:sp>
      <p:sp>
        <p:nvSpPr>
          <p:cNvPr id="141" name="文本框 140"/>
          <p:cNvSpPr txBox="1"/>
          <p:nvPr/>
        </p:nvSpPr>
        <p:spPr>
          <a:xfrm>
            <a:off x="9674860" y="3074670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sp>
        <p:nvSpPr>
          <p:cNvPr id="142" name="文本框 141"/>
          <p:cNvSpPr txBox="1"/>
          <p:nvPr/>
        </p:nvSpPr>
        <p:spPr>
          <a:xfrm>
            <a:off x="9518015" y="6374130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260806 </a:t>
            </a:r>
            <a:r>
              <a:rPr lang="zh-CN" altLang="en-US"/>
              <a:t>行为级</a:t>
            </a:r>
            <a:r>
              <a:rPr lang="zh-CN" altLang="en-US"/>
              <a:t>建模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66090" y="1796415"/>
            <a:ext cx="1645285" cy="3714750"/>
            <a:chOff x="1805" y="1946"/>
            <a:chExt cx="2591" cy="5850"/>
          </a:xfrm>
        </p:grpSpPr>
        <p:sp>
          <p:nvSpPr>
            <p:cNvPr id="7" name="矩形 6"/>
            <p:cNvSpPr/>
            <p:nvPr/>
          </p:nvSpPr>
          <p:spPr>
            <a:xfrm>
              <a:off x="1805" y="1946"/>
              <a:ext cx="1678" cy="585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多相位</a:t>
              </a:r>
              <a:r>
                <a:rPr lang="zh-CN" altLang="en-US"/>
                <a:t>时钟生成</a:t>
              </a:r>
              <a:endParaRPr lang="zh-CN" altLang="en-US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3500" y="2297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3500" y="3013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3500" y="3729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3500" y="4445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3500" y="5161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3500" y="5877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3500" y="6593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3500" y="7309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8" name="矩形 17"/>
          <p:cNvSpPr/>
          <p:nvPr/>
        </p:nvSpPr>
        <p:spPr>
          <a:xfrm>
            <a:off x="3198495" y="181864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3325495" y="194564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3452495" y="207264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3579495" y="224282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22" name="右箭头 21"/>
          <p:cNvSpPr/>
          <p:nvPr/>
        </p:nvSpPr>
        <p:spPr>
          <a:xfrm>
            <a:off x="2558415" y="2199640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327650" y="2828290"/>
            <a:ext cx="712470" cy="1109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endParaRPr lang="en-US" altLang="zh-CN"/>
          </a:p>
        </p:txBody>
      </p:sp>
      <p:sp>
        <p:nvSpPr>
          <p:cNvPr id="24" name="右箭头 23"/>
          <p:cNvSpPr/>
          <p:nvPr/>
        </p:nvSpPr>
        <p:spPr>
          <a:xfrm rot="2580000">
            <a:off x="4687570" y="2634615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 rot="21060000">
            <a:off x="3077210" y="3894455"/>
            <a:ext cx="14370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198495" y="4486275"/>
            <a:ext cx="13620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8</a:t>
            </a:r>
            <a:r>
              <a:rPr lang="zh-CN" altLang="en-US" sz="1400"/>
              <a:t>相位时钟</a:t>
            </a:r>
            <a:r>
              <a:rPr lang="en-US" altLang="zh-CN" sz="1400"/>
              <a:t>-0</a:t>
            </a:r>
            <a:r>
              <a:rPr lang="zh-CN" altLang="en-US" sz="1400"/>
              <a:t>，</a:t>
            </a:r>
            <a:r>
              <a:rPr lang="en-US" altLang="zh-CN" sz="1400"/>
              <a:t>2</a:t>
            </a:r>
            <a:r>
              <a:rPr lang="zh-CN" altLang="en-US" sz="1400"/>
              <a:t>，</a:t>
            </a:r>
            <a:r>
              <a:rPr lang="en-US" altLang="zh-CN" sz="1400"/>
              <a:t>4</a:t>
            </a:r>
            <a:r>
              <a:rPr lang="zh-CN" altLang="en-US" sz="1400"/>
              <a:t>，</a:t>
            </a:r>
            <a:r>
              <a:rPr lang="en-US" altLang="zh-CN" sz="1400"/>
              <a:t>6</a:t>
            </a:r>
            <a:r>
              <a:rPr lang="zh-CN" altLang="en-US" sz="1400"/>
              <a:t>路</a:t>
            </a:r>
            <a:r>
              <a:rPr lang="zh-CN" altLang="en-US" sz="1400"/>
              <a:t>硬连接</a:t>
            </a:r>
            <a:endParaRPr lang="zh-CN" altLang="en-US" sz="1400"/>
          </a:p>
        </p:txBody>
      </p:sp>
      <p:sp>
        <p:nvSpPr>
          <p:cNvPr id="27" name="文本框 26"/>
          <p:cNvSpPr txBox="1"/>
          <p:nvPr/>
        </p:nvSpPr>
        <p:spPr>
          <a:xfrm>
            <a:off x="2290445" y="1945640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8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28" name="文本框 27"/>
          <p:cNvSpPr txBox="1"/>
          <p:nvPr/>
        </p:nvSpPr>
        <p:spPr>
          <a:xfrm>
            <a:off x="4914900" y="2367915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4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30" name="矩形 29"/>
          <p:cNvSpPr/>
          <p:nvPr/>
        </p:nvSpPr>
        <p:spPr>
          <a:xfrm>
            <a:off x="8351520" y="2555875"/>
            <a:ext cx="712470" cy="683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DTC</a:t>
            </a:r>
            <a:endParaRPr lang="en-US" altLang="zh-CN"/>
          </a:p>
        </p:txBody>
      </p:sp>
      <p:sp>
        <p:nvSpPr>
          <p:cNvPr id="31" name="矩形 30"/>
          <p:cNvSpPr/>
          <p:nvPr/>
        </p:nvSpPr>
        <p:spPr>
          <a:xfrm>
            <a:off x="8351520" y="1569720"/>
            <a:ext cx="712470" cy="683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DTC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7572375" y="4486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7699375" y="4613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7826375" y="4740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7953375" y="4867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9568180" y="4370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6057265" y="3261360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4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38" name="右箭头 37"/>
          <p:cNvSpPr/>
          <p:nvPr/>
        </p:nvSpPr>
        <p:spPr>
          <a:xfrm>
            <a:off x="9568180" y="2103120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54470" y="1796415"/>
            <a:ext cx="19869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</a:t>
            </a:r>
            <a:r>
              <a:rPr lang="zh-CN" altLang="en-US" sz="1400"/>
              <a:t>相位时钟</a:t>
            </a:r>
            <a:r>
              <a:rPr lang="en-US" altLang="zh-CN" sz="1400"/>
              <a:t>0，2</a:t>
            </a:r>
            <a:endParaRPr lang="en-US" altLang="zh-CN" sz="1400"/>
          </a:p>
        </p:txBody>
      </p:sp>
      <p:sp>
        <p:nvSpPr>
          <p:cNvPr id="40" name="文本框 39"/>
          <p:cNvSpPr txBox="1"/>
          <p:nvPr/>
        </p:nvSpPr>
        <p:spPr>
          <a:xfrm>
            <a:off x="6732270" y="2705100"/>
            <a:ext cx="1486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</a:t>
            </a:r>
            <a:r>
              <a:rPr lang="zh-CN" altLang="en-US" sz="1400"/>
              <a:t>相位时钟</a:t>
            </a:r>
            <a:r>
              <a:rPr lang="en-US" altLang="zh-CN" sz="1400"/>
              <a:t>1，3</a:t>
            </a:r>
            <a:endParaRPr lang="en-US" altLang="zh-CN" sz="1400"/>
          </a:p>
        </p:txBody>
      </p:sp>
      <p:sp>
        <p:nvSpPr>
          <p:cNvPr id="41" name="右箭头 40"/>
          <p:cNvSpPr/>
          <p:nvPr/>
        </p:nvSpPr>
        <p:spPr>
          <a:xfrm rot="20040000">
            <a:off x="6087745" y="2362200"/>
            <a:ext cx="14370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0279380" y="2103120"/>
            <a:ext cx="1532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16G，</a:t>
            </a:r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43" name="右箭头 42"/>
          <p:cNvSpPr/>
          <p:nvPr/>
        </p:nvSpPr>
        <p:spPr>
          <a:xfrm rot="1620000">
            <a:off x="6062980" y="4144645"/>
            <a:ext cx="14370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125210" y="5226050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4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45" name="文本框 44"/>
          <p:cNvSpPr txBox="1"/>
          <p:nvPr/>
        </p:nvSpPr>
        <p:spPr>
          <a:xfrm>
            <a:off x="496570" y="362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时钟生成</a:t>
            </a:r>
            <a:endParaRPr lang="en-US" altLang="zh-CN"/>
          </a:p>
        </p:txBody>
      </p:sp>
      <p:sp>
        <p:nvSpPr>
          <p:cNvPr id="46" name="矩形 45"/>
          <p:cNvSpPr/>
          <p:nvPr/>
        </p:nvSpPr>
        <p:spPr>
          <a:xfrm>
            <a:off x="9695180" y="4497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47" name="矩形 46"/>
          <p:cNvSpPr/>
          <p:nvPr/>
        </p:nvSpPr>
        <p:spPr>
          <a:xfrm>
            <a:off x="9822180" y="4624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48" name="矩形 47"/>
          <p:cNvSpPr/>
          <p:nvPr/>
        </p:nvSpPr>
        <p:spPr>
          <a:xfrm>
            <a:off x="9949180" y="4751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50" name="右箭头 49"/>
          <p:cNvSpPr/>
          <p:nvPr/>
        </p:nvSpPr>
        <p:spPr>
          <a:xfrm>
            <a:off x="11125200" y="4678045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箭头连接符 56"/>
          <p:cNvCxnSpPr/>
          <p:nvPr/>
        </p:nvCxnSpPr>
        <p:spPr>
          <a:xfrm>
            <a:off x="8745220" y="4842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8872220" y="4969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8930640" y="5096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8999220" y="522605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1125200" y="5205095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64</a:t>
            </a:r>
            <a:r>
              <a:rPr lang="zh-CN" altLang="en-US" sz="1400"/>
              <a:t>路</a:t>
            </a:r>
            <a:r>
              <a:rPr lang="zh-CN" altLang="en-US" sz="1400"/>
              <a:t>脉冲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260806 </a:t>
            </a:r>
            <a:r>
              <a:rPr lang="zh-CN" altLang="en-US"/>
              <a:t>行为级</a:t>
            </a:r>
            <a:r>
              <a:rPr lang="zh-CN" altLang="en-US"/>
              <a:t>建模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496570" y="362585"/>
            <a:ext cx="449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PLL---</a:t>
            </a:r>
            <a:r>
              <a:rPr lang="zh-CN" altLang="en-US"/>
              <a:t>较之前简化设计</a:t>
            </a:r>
            <a:r>
              <a:rPr lang="en-US" altLang="zh-CN"/>
              <a:t>，</a:t>
            </a:r>
            <a:r>
              <a:rPr lang="zh-CN" altLang="en-US"/>
              <a:t>保留关键</a:t>
            </a:r>
            <a:r>
              <a:rPr lang="zh-CN" altLang="en-US"/>
              <a:t>行为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94640" y="929957"/>
            <a:ext cx="5080000" cy="3371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方波输出（</a:t>
            </a:r>
            <a:r>
              <a:rPr lang="en-US" altLang="zh-CN" sz="1600" b="0" i="0">
                <a:solidFill>
                  <a:srgbClr val="E6EDF3"/>
                </a:solidFill>
                <a:latin typeface="-apple-system"/>
                <a:ea typeface="-apple-system"/>
              </a:rPr>
              <a:t>4 </a:t>
            </a: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个）</a:t>
            </a:r>
            <a:endParaRPr lang="zh-CN" altLang="en-US" sz="1600" b="0" i="0">
              <a:solidFill>
                <a:srgbClr val="E6EDF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94640" y="1267143"/>
          <a:ext cx="5052695" cy="1346200"/>
        </p:xfrm>
        <a:graphic>
          <a:graphicData uri="http://schemas.openxmlformats.org/drawingml/2006/table">
            <a:tbl>
              <a:tblPr/>
              <a:tblGrid>
                <a:gridCol w="1908810"/>
                <a:gridCol w="3143885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引脚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功能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mplla_clk_left/</a:t>
                      </a:r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right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10GHz </a:t>
                      </a:r>
                      <a:r>
                        <a:rPr lang="zh-CN" altLang="en-US" sz="1100"/>
                        <a:t>方波 正端（给 </a:t>
                      </a:r>
                      <a:r>
                        <a:rPr lang="en-US" altLang="zh-CN" sz="1100"/>
                        <a:t>TX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mplla_ana_fb_clk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10GHz/80 = 125MHz </a:t>
                      </a:r>
                      <a:r>
                        <a:rPr lang="zh-CN" altLang="en-US" sz="1100"/>
                        <a:t>方波（内部使用）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mplla_ana_div_clk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10GHz/20 = 500MHz </a:t>
                      </a:r>
                      <a:r>
                        <a:rPr lang="zh-CN" altLang="en-US" sz="1100"/>
                        <a:t>方波（给 </a:t>
                      </a:r>
                      <a:r>
                        <a:rPr lang="en-US" altLang="zh-CN" sz="1100"/>
                        <a:t>204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94640" y="2530475"/>
            <a:ext cx="5125085" cy="3371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控制输入（</a:t>
            </a:r>
            <a:r>
              <a:rPr lang="en-US" altLang="zh-CN" sz="1600" b="0" i="0">
                <a:solidFill>
                  <a:srgbClr val="E6EDF3"/>
                </a:solidFill>
                <a:latin typeface="-apple-system"/>
                <a:ea typeface="-apple-system"/>
              </a:rPr>
              <a:t>2 </a:t>
            </a: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个）</a:t>
            </a:r>
            <a:endParaRPr lang="zh-CN" altLang="en-US" sz="1600" b="0" i="0">
              <a:solidFill>
                <a:srgbClr val="E6EDF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294640" y="2867343"/>
          <a:ext cx="5124450" cy="807720"/>
        </p:xfrm>
        <a:graphic>
          <a:graphicData uri="http://schemas.openxmlformats.org/drawingml/2006/table">
            <a:tbl>
              <a:tblPr/>
              <a:tblGrid>
                <a:gridCol w="1939925"/>
                <a:gridCol w="3184525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引脚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功能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mplla_coarse_tune[7:0]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控制 </a:t>
                      </a:r>
                      <a:r>
                        <a:rPr lang="en-US" altLang="zh-CN" sz="1100"/>
                        <a:t>10GHz </a:t>
                      </a:r>
                      <a:r>
                        <a:rPr lang="zh-CN" altLang="en-US" sz="1100"/>
                        <a:t>输出频率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mplla_div_multiplier[6:0]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控制 </a:t>
                      </a:r>
                      <a:r>
                        <a:rPr lang="en-US" altLang="zh-CN" sz="1100"/>
                        <a:t>div_clk </a:t>
                      </a:r>
                      <a:r>
                        <a:rPr lang="zh-CN" altLang="en-US" sz="1100"/>
                        <a:t>分频比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6358255" y="1267460"/>
            <a:ext cx="3559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《</a:t>
            </a:r>
            <a:r>
              <a:rPr lang="zh-CN" altLang="en-US"/>
              <a:t>控制字</a:t>
            </a:r>
            <a:r>
              <a:rPr lang="en-US" altLang="zh-CN"/>
              <a:t>-</a:t>
            </a:r>
            <a:r>
              <a:rPr lang="zh-CN" altLang="en-US"/>
              <a:t>频率</a:t>
            </a:r>
            <a:r>
              <a:rPr lang="en-US" altLang="zh-CN"/>
              <a:t>》</a:t>
            </a:r>
            <a:r>
              <a:rPr lang="zh-CN" altLang="en-US"/>
              <a:t>表给出控制关系</a:t>
            </a:r>
            <a:r>
              <a:rPr lang="en-US" altLang="zh-CN"/>
              <a:t>--</a:t>
            </a:r>
            <a:r>
              <a:rPr lang="zh-CN" altLang="en-US"/>
              <a:t>待定</a:t>
            </a:r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" y="4494530"/>
            <a:ext cx="6064885" cy="20732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9230" y="3003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ADC</a:t>
            </a:r>
            <a:r>
              <a:rPr lang="zh-CN" altLang="en-US"/>
              <a:t>行为级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185" y="1168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8770" y="1436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962785" y="1436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08965" y="647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210185" y="1295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45770" y="1563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2089785" y="1563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337185" y="1422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72770" y="1690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2216785" y="1690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464185" y="1549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99770" y="1817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2343785" y="1817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591185" y="1676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26770" y="1944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41" name="矩形 40"/>
          <p:cNvSpPr/>
          <p:nvPr/>
        </p:nvSpPr>
        <p:spPr>
          <a:xfrm>
            <a:off x="2470785" y="1944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4090035" y="1129030"/>
            <a:ext cx="81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x64</a:t>
            </a:r>
            <a:r>
              <a:rPr lang="zh-CN" altLang="en-US"/>
              <a:t>路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451600" y="354330"/>
            <a:ext cx="4702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THA</a:t>
            </a:r>
            <a:r>
              <a:rPr lang="zh-CN" altLang="en-US"/>
              <a:t>行为模型</a:t>
            </a:r>
            <a:r>
              <a:rPr lang="en-US" altLang="zh-CN"/>
              <a:t>：</a:t>
            </a:r>
            <a:r>
              <a:rPr lang="zh-CN" altLang="en-US"/>
              <a:t>用</a:t>
            </a:r>
            <a:r>
              <a:rPr lang="en-US" altLang="zh-CN"/>
              <a:t>latch</a:t>
            </a:r>
            <a:r>
              <a:rPr lang="zh-CN" altLang="en-US"/>
              <a:t>完成</a:t>
            </a:r>
            <a:r>
              <a:rPr lang="zh-CN" altLang="en-US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连续</a:t>
            </a:r>
            <a:r>
              <a:rPr lang="en-US" altLang="zh-CN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-&gt;</a:t>
            </a:r>
            <a:r>
              <a:rPr lang="zh-CN" altLang="en-US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离散</a:t>
            </a:r>
            <a:endParaRPr lang="zh-CN" altLang="en-US">
              <a:ln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0" y="722630"/>
            <a:ext cx="5537200" cy="148590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3694430"/>
            <a:ext cx="3124200" cy="13462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2208530"/>
            <a:ext cx="5740400" cy="14859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5" y="3992245"/>
            <a:ext cx="5100320" cy="25831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4645" y="324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SAR Core</a:t>
            </a:r>
            <a:r>
              <a:rPr lang="zh-CN" altLang="en-US"/>
              <a:t>的行为</a:t>
            </a:r>
            <a:r>
              <a:rPr lang="zh-CN" altLang="en-US"/>
              <a:t>模型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45" y="692785"/>
            <a:ext cx="7092315" cy="29902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67295" y="843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模拟输入，</a:t>
            </a:r>
            <a:r>
              <a:rPr lang="en-US" altLang="zh-CN"/>
              <a:t>64</a:t>
            </a:r>
            <a:r>
              <a:rPr lang="zh-CN" altLang="en-US"/>
              <a:t>路时钟的</a:t>
            </a:r>
            <a:r>
              <a:rPr lang="zh-CN" altLang="en-US"/>
              <a:t>脉冲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67295" y="1687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gain</a:t>
            </a:r>
            <a:r>
              <a:rPr lang="zh-CN" altLang="en-US"/>
              <a:t>的校准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67295" y="2315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offset</a:t>
            </a:r>
            <a:r>
              <a:rPr lang="zh-CN" altLang="en-US"/>
              <a:t>的校准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67295" y="32264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输出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9PI</a:t>
            </a:r>
            <a:r>
              <a:rPr lang="zh-CN" altLang="en-US"/>
              <a:t>的行为级模型</a:t>
            </a:r>
            <a:r>
              <a:rPr lang="en-US" altLang="zh-CN"/>
              <a:t>，</a:t>
            </a:r>
            <a:r>
              <a:rPr lang="zh-CN" altLang="en-US"/>
              <a:t>验证</a:t>
            </a:r>
            <a:r>
              <a:rPr lang="zh-CN" altLang="en-US"/>
              <a:t>细节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" y="501650"/>
            <a:ext cx="6807200" cy="58547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06945" y="885190"/>
            <a:ext cx="4715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PI_I_MUX</a:t>
            </a:r>
            <a:r>
              <a:rPr lang="zh-CN" altLang="en-US"/>
              <a:t>变化，对应的</a:t>
            </a:r>
            <a:r>
              <a:rPr lang="en-US" altLang="zh-CN"/>
              <a:t>9PI</a:t>
            </a:r>
            <a:r>
              <a:rPr lang="zh-CN" altLang="en-US"/>
              <a:t>输出相位变化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采样不同的</a:t>
            </a:r>
            <a:r>
              <a:rPr lang="en-US" altLang="zh-CN"/>
              <a:t>Inject </a:t>
            </a:r>
            <a:r>
              <a:rPr lang="en-US" altLang="zh-CN"/>
              <a:t>Phase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6870" y="141605"/>
            <a:ext cx="1883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5PI</a:t>
            </a:r>
            <a:r>
              <a:rPr lang="zh-CN" altLang="en-US"/>
              <a:t>的验证细节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2695"/>
            <a:ext cx="12192000" cy="2668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" y="3979545"/>
            <a:ext cx="4801235" cy="28784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948055"/>
            <a:ext cx="7778750" cy="44869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9PI</a:t>
            </a:r>
            <a:r>
              <a:rPr lang="zh-CN" altLang="en-US"/>
              <a:t>的行为级模型</a:t>
            </a:r>
            <a:r>
              <a:rPr lang="en-US" altLang="zh-CN"/>
              <a:t>，</a:t>
            </a:r>
            <a:r>
              <a:rPr lang="zh-CN" altLang="en-US"/>
              <a:t>验证</a:t>
            </a:r>
            <a:r>
              <a:rPr lang="zh-CN" altLang="en-US"/>
              <a:t>细节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8810" y="1093470"/>
            <a:ext cx="3255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PI_I_W</a:t>
            </a:r>
            <a:r>
              <a:rPr lang="zh-CN" altLang="en-US"/>
              <a:t>变化</a:t>
            </a:r>
            <a:r>
              <a:rPr lang="en-US" altLang="zh-CN"/>
              <a:t>，Ip</a:t>
            </a:r>
            <a:r>
              <a:rPr lang="zh-CN" altLang="en-US"/>
              <a:t>的相位介于</a:t>
            </a:r>
            <a:r>
              <a:rPr lang="en-US" altLang="zh-CN"/>
              <a:t>2phase</a:t>
            </a:r>
            <a:r>
              <a:rPr lang="zh-CN" altLang="en-US"/>
              <a:t>中间</a:t>
            </a:r>
            <a:r>
              <a:rPr lang="en-US" altLang="zh-CN"/>
              <a:t>，</a:t>
            </a:r>
            <a:r>
              <a:rPr lang="zh-CN" altLang="en-US"/>
              <a:t>实现插值</a:t>
            </a:r>
            <a:r>
              <a:rPr lang="zh-CN" altLang="en-US"/>
              <a:t>变化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6375" y="325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DTC</a:t>
            </a:r>
            <a:r>
              <a:rPr lang="zh-CN" altLang="en-US"/>
              <a:t>的</a:t>
            </a:r>
            <a:r>
              <a:rPr lang="zh-CN" altLang="en-US"/>
              <a:t>验证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861060"/>
            <a:ext cx="8915400" cy="1727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WPS 文字</Application>
  <PresentationFormat>宽屏</PresentationFormat>
  <Paragraphs>305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Apple Color Emoji</vt:lpstr>
      <vt:lpstr>-apple-system</vt:lpstr>
      <vt:lpstr>SF Mono</vt:lpstr>
      <vt:lpstr>Thonburi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良辰</cp:lastModifiedBy>
  <cp:revision>171</cp:revision>
  <dcterms:created xsi:type="dcterms:W3CDTF">2026-08-12T11:31:08Z</dcterms:created>
  <dcterms:modified xsi:type="dcterms:W3CDTF">2026-08-12T11:31:08Z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367ACD8EBB9C8A39E9E3736A53E6EFF5_41</vt:lpwstr>
  </property>
</Properties>
</file>