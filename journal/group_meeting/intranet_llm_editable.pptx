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内网部署大语言模型的应用价值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数字 IC · 模拟 IC · 实验室建设</a:t>
            </a:r>
            <a:br/>
            <a:br/>
            <a:r>
              <a:rPr/>
              <a:t>葛良晨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2026-06-22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汇报大纲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数字领域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EDA 脚本与自动化</a:t>
                </a:r>
              </a:p>
              <a:p>
                <a:pPr lvl="0" indent="0" marL="0">
                  <a:buNone/>
                </a:pPr>
                <a:r>
                  <a:rPr/>
                  <a:t>LLM 能力现状 Makefile、Python、Tcl、Bash 等工程脚本语言，大模型已具备成熟的生成与调试能力。</a:t>
                </a:r>
              </a:p>
              <a:p>
                <a:pPr lvl="0" indent="0" marL="0">
                  <a:buNone/>
                </a:pPr>
                <a:r>
                  <a:rPr/>
                  <a:t>0.45</a:t>
                </a:r>
              </a:p>
              <a:p>
                <a:pPr lvl="0" indent="0" marL="0">
                  <a:buNone/>
                </a:pPr>
                <a:r>
                  <a:rPr/>
                  <a:t>流程控制脚本</a:t>
                </a:r>
              </a:p>
              <a:p>
                <a:pPr lvl="0"/>
                <a:r>
                  <a:rPr/>
                  <a:t>Vivado / Design Compiler / Innovus 自动化流程脚本</a:t>
                </a:r>
              </a:p>
              <a:p>
                <a:pPr lvl="0"/>
                <a:r>
                  <a:rPr/>
                  <a:t>约束文件（SDC / XDC）模板生成</a:t>
                </a:r>
              </a:p>
              <a:p>
                <a:pPr lvl="0"/>
                <a:r>
                  <a:rPr/>
                  <a:t>多 Corner / 多 Mode 批量综合脚本</a:t>
                </a:r>
              </a:p>
              <a:p>
                <a:pPr lvl="0" indent="0" marL="0">
                  <a:buNone/>
                </a:pPr>
                <a:r>
                  <a:rPr/>
                  <a:t>0.45</a:t>
                </a:r>
              </a:p>
              <a:p>
                <a:pPr lvl="0" indent="0" marL="0">
                  <a:buNone/>
                </a:pPr>
                <a:r>
                  <a:rPr/>
                  <a:t>报告解析与数据提取</a:t>
                </a:r>
              </a:p>
              <a:p>
                <a:pPr lvl="0"/>
                <a:r>
                  <a:rPr/>
                  <a:t>正则表达式解析 STA 时序报告</a:t>
                </a:r>
              </a:p>
              <a:p>
                <a:pPr lvl="0"/>
                <a:r>
                  <a:rPr/>
                  <a:t>自动提取关键路径（WNS / TNS）数据</a:t>
                </a:r>
              </a:p>
              <a:p>
                <a:pPr lvl="0"/>
                <a:r>
                  <a:rPr/>
                  <a:t>综合面积 / 功耗报告的结构化汇总</a:t>
                </a:r>
              </a:p>
              <a:p>
                <a:pPr lvl="0" indent="0" marL="0">
                  <a:buNone/>
                </a:pPr>
                <a:r>
                  <a:rPr/>
                  <a:t>典型场景 输入 Vivado 综合日志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LLM 编写 Python 正则提取所有裕量为负的路径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输出 CSV 表格供后续分析。</a:t>
                </a:r>
              </a:p>
              <a:p>
                <a:pPr lvl="0" indent="0" marL="0">
                  <a:buNone/>
                </a:pPr>
                <a:r>
                  <a:rPr/>
                  <a:t>模板代码与测试激励生成</a:t>
                </a:r>
              </a:p>
              <a:p>
                <a:pPr lvl="0" indent="0" marL="0">
                  <a:buNone/>
                </a:pPr>
                <a:r>
                  <a:rPr/>
                  <a:t>0.45</a:t>
                </a:r>
              </a:p>
              <a:p>
                <a:pPr lvl="0" indent="0" marL="0">
                  <a:buNone/>
                </a:pPr>
                <a:r>
                  <a:rPr/>
                  <a:t>RTL 设计端</a:t>
                </a:r>
              </a:p>
              <a:p>
                <a:pPr lvl="0"/>
                <a:r>
                  <a:rPr/>
                  <a:t>Verilog/SystemVerilog 模块外壳（Boilerplate）</a:t>
                </a:r>
              </a:p>
              <a:p>
                <a:pPr lvl="0"/>
                <a:r>
                  <a:rPr/>
                  <a:t>状态机（FSM）模板：二段式 / 三段式</a:t>
                </a:r>
              </a:p>
              <a:p>
                <a:pPr lvl="0"/>
                <a:r>
                  <a:rPr/>
                  <a:t>AMBA 总线接口挂载代码（AXI / APB / AHB）</a:t>
                </a:r>
              </a:p>
              <a:p>
                <a:pPr lvl="0"/>
                <a:r>
                  <a:rPr/>
                  <a:t>参数化寄存器堆自动生成</a:t>
                </a:r>
              </a:p>
              <a:p>
                <a:pPr lvl="0" indent="0" marL="0">
                  <a:buNone/>
                </a:pPr>
                <a:r>
                  <a:rPr/>
                  <a:t>0.45</a:t>
                </a:r>
              </a:p>
              <a:p>
                <a:pPr lvl="0" indent="0" marL="0">
                  <a:buNone/>
                </a:pPr>
                <a:r>
                  <a:rPr/>
                  <a:t>验证端</a:t>
                </a:r>
              </a:p>
              <a:p>
                <a:pPr lvl="0"/>
                <a:r>
                  <a:rPr/>
                  <a:t>UVM 组件框架（Driver / Monitor / Scoreboard）</a:t>
                </a:r>
              </a:p>
              <a:p>
                <a:pPr lvl="0"/>
                <a:r>
                  <a:rPr/>
                  <a:t>SystemVerilog 断言（SVA）模板</a:t>
                </a:r>
              </a:p>
              <a:p>
                <a:pPr lvl="0"/>
                <a:r>
                  <a:rPr/>
                  <a:t>定向测试与随机约束生成</a:t>
                </a:r>
              </a:p>
              <a:p>
                <a:pPr lvl="0"/>
                <a:r>
                  <a:rPr/>
                  <a:t>功能覆盖率组（Covergroup）骨架</a:t>
                </a:r>
              </a:p>
              <a:p>
                <a:pPr lvl="0" indent="0" marL="0">
                  <a:buNone/>
                </a:pPr>
                <a:r>
                  <a:rPr/>
                  <a:t>价值定位 将工程师从重复性体力劳动中解放，聚焦于架构设计与关键逻辑实现。模板代码的正确性和风格一致性由 LLM 保证。</a:t>
                </a:r>
              </a:p>
              <a:p>
                <a:pPr lvl="0" indent="0" marL="0">
                  <a:buNone/>
                </a:pPr>
                <a:r>
                  <a:rPr/>
                  <a:t>代码生成示例：SPI模块 Verilog代码和注释</a:t>
                </a:r>
              </a:p>
              <a:p>
                <a:pPr lvl="0" indent="0" marL="0">
                  <a:buNone/>
                </a:pPr>
                <a:r>
                  <a:rPr/>
                  <a:t>用户提示词 “对这份代码增加详细的注释用于理解。保留现有的注释，新增相应的中文注释。”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/>
                  <a:t>代码生成示例：寄存器控制模块 by LLM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/>
                  <a:t>协议与 Datasheet 智能解析</a:t>
                </a:r>
              </a:p>
              <a:p>
                <a:pPr lvl="0" indent="0" marL="0">
                  <a:buNone/>
                </a:pPr>
                <a:r>
                  <a:rPr/>
                  <a:t>痛点 数字设计常需翻阅上千页的官方手册（JESD204、以太网协议、PCIe、AMBA 系列），检索效率极低。</a:t>
                </a:r>
              </a:p>
              <a:p>
                <a:pPr lvl="0" indent="0" marL="0">
                  <a:buNone/>
                </a:pPr>
                <a:r>
                  <a:rPr/>
                  <a:t>0.55</a:t>
                </a:r>
              </a:p>
              <a:p>
                <a:pPr lvl="0" indent="0" marL="0">
                  <a:buNone/>
                </a:pPr>
                <a:r>
                  <a:rPr/>
                  <a:t>LLM 解决方案</a:t>
                </a:r>
              </a:p>
              <a:p>
                <a:pPr lvl="0"/>
                <a:r>
                  <a:rPr/>
                  <a:t>将 PDF 手册输入 LLM，直接以自然语言提问</a:t>
                </a:r>
              </a:p>
              <a:p>
                <a:pPr lvl="0"/>
                <a:r>
                  <a:rPr/>
                  <a:t>无需记忆信号定义和时序图的页码</a:t>
                </a:r>
              </a:p>
              <a:p>
                <a:pPr lvl="0"/>
                <a:r>
                  <a:rPr/>
                  <a:t>多协议交叉引用：例如对比 AXI4 与 AXI3 的差异</a:t>
                </a:r>
              </a:p>
              <a:p>
                <a:pPr lvl="0" indent="0" marL="0">
                  <a:buNone/>
                </a:pPr>
                <a:r>
                  <a:rPr/>
                  <a:t>典型提问示例</a:t>
                </a:r>
              </a:p>
              <a:p>
                <a:pPr lvl="0"/>
                <a:r>
                  <a:rPr/>
                  <a:t>“AXI4 中 WSTRB 在非对齐传输时如何处理？”</a:t>
                </a:r>
              </a:p>
              <a:p>
                <a:pPr lvl="0"/>
                <a:r>
                  <a:rPr/>
                  <a:t>“JESD204B subclass 1 的同步流程分几步？”</a:t>
                </a:r>
              </a:p>
              <a:p>
                <a:pPr lvl="0" indent="0" marL="0">
                  <a:buNone/>
                </a:pPr>
                <a:r>
                  <a:rPr/>
                  <a:t>0.45</a:t>
                </a:r>
              </a:p>
              <a:p>
                <a:pPr lvl="0" indent="0" marL="0">
                  <a:buNone/>
                </a:pPr>
                <a:r>
                  <a:rPr/>
                  <a:t>从手册到答案的智能检索管道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模拟领域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仿真脚本与后处理工具</a:t>
                </a:r>
              </a:p>
              <a:p>
                <a:pPr lvl="0" indent="0" marL="0">
                  <a:buNone/>
                </a:pPr>
                <a:r>
                  <a:rPr/>
                  <a:t>0.45</a:t>
                </a:r>
              </a:p>
              <a:p>
                <a:pPr lvl="0" indent="0" marL="0">
                  <a:buNone/>
                </a:pPr>
                <a:r>
                  <a:rPr/>
                  <a:t>痛点 模拟工程师常需学习 Cadence SKILL / Ocean 等小众脚本语言，学习曲线陡峭，调试困难。</a:t>
                </a:r>
              </a:p>
              <a:p>
                <a:pPr lvl="0" indent="0" marL="0">
                  <a:buNone/>
                </a:pPr>
                <a:r>
                  <a:rPr/>
                  <a:t>LLM 的独特价值 LLM 掌握大量现成编程范式，包括这些 小众但成熟 的 EDA 脚本语言，能极大降低学习门槛。</a:t>
                </a:r>
              </a:p>
              <a:p>
                <a:pPr lvl="0" indent="0" marL="0">
                  <a:buNone/>
                </a:pPr>
                <a:r>
                  <a:rPr/>
                  <a:t>0.45</a:t>
                </a:r>
              </a:p>
              <a:p>
                <a:pPr lvl="0" indent="0" marL="0">
                  <a:buNone/>
                </a:pPr>
                <a:r>
                  <a:rPr/>
                  <a:t>典型应用</a:t>
                </a:r>
              </a:p>
              <a:p>
                <a:pPr lvl="0"/>
                <a:r>
                  <a:rPr b="1"/>
                  <a:t>批量仿真脚本</a:t>
                </a:r>
                <a:r>
                  <a:rPr/>
                  <a:t>：自动生成 Ocean 脚本，遍历 PVT 组合</a:t>
                </a:r>
              </a:p>
              <a:p>
                <a:pPr lvl="0"/>
                <a:r>
                  <a:rPr b="1"/>
                  <a:t>SKILL 函数编写</a:t>
                </a:r>
                <a:r>
                  <a:rPr/>
                  <a:t>：Cadence Virtuoso 版图自动化操作</a:t>
                </a:r>
              </a:p>
              <a:p>
                <a:pPr lvl="0"/>
                <a:r>
                  <a:rPr b="1"/>
                  <a:t>仿真配置迁移</a:t>
                </a:r>
                <a:r>
                  <a:rPr/>
                  <a:t>：从一个 Testbench 迁移配置到另一个</a:t>
                </a:r>
              </a:p>
              <a:p>
                <a:pPr lvl="0"/>
                <a:r>
                  <a:rPr b="1"/>
                  <a:t>ADE 环境搭建</a:t>
                </a:r>
                <a:r>
                  <a:rPr/>
                  <a:t>：自动生成仿真器设置与输出配置</a:t>
                </a:r>
              </a:p>
              <a:p>
                <a:pPr lvl="0" indent="0" marL="0">
                  <a:buNone/>
                </a:pPr>
                <a:r>
                  <a:rPr/>
                  <a:t>数据清洗与可视化</a:t>
                </a:r>
              </a:p>
              <a:p>
                <a:pPr lvl="0" indent="0" marL="0">
                  <a:buNone/>
                </a:pPr>
                <a:r>
                  <a:rPr/>
                  <a:t>场景一：SPICE 仿真日志解析</a:t>
                </a:r>
              </a:p>
              <a:p>
                <a:pPr lvl="0"/>
                <a:r>
                  <a:rPr/>
                  <a:t>将 SPICE / Spectre 仿真的海量文本日志自动转化为结构化 CSV</a:t>
                </a:r>
              </a:p>
              <a:p>
                <a:pPr lvl="0"/>
                <a:r>
                  <a:rPr/>
                  <a:t>LLM 编写 Python 脚本，识别仿真结果段落并提取关键指标（增益、带宽、相位裕度、功耗等）</a:t>
                </a:r>
              </a:p>
              <a:p>
                <a:pPr lvl="0" indent="0" marL="0">
                  <a:buNone/>
                </a:pPr>
                <a:r>
                  <a:rPr/>
                  <a:t>场景二：数据可视化与拟合</a:t>
                </a:r>
              </a:p>
              <a:p>
                <a:pPr lvl="0"/>
                <a:r>
                  <a:rPr/>
                  <a:t>使用 Matplotlib 生成 PVT 曲线、蒙特卡洛分布直方图、眼图等</a:t>
                </a:r>
              </a:p>
              <a:p>
                <a:pPr lvl="0"/>
                <a:r>
                  <a:rPr/>
                  <a:t>利用 SciPy 进行器件模型参数拟合（如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TH</m:t>
                        </m:r>
                      </m:sub>
                    </m:sSub>
                  </m:oMath>
                </a14:m>
                <a:r>
                  <a:rPr/>
                  <a:t> 提取）</a:t>
                </a:r>
              </a:p>
              <a:p>
                <a:pPr lvl="0"/>
                <a:r>
                  <a:rPr/>
                  <a:t>Pandas 汇总多次仿真结果，自动生成对比报告</a:t>
                </a:r>
              </a:p>
              <a:p>
                <a:pPr lvl="0" indent="0" marL="0">
                  <a:buNone/>
                </a:pPr>
                <a:r>
                  <a:rPr/>
                  <a:t>案例 张博（zsc）使用LLM设计python代码对SerDes的仿真模型，生成图片等，1-2天时间。</a:t>
                </a:r>
              </a:p>
              <a:p>
                <a:pPr lvl="0" indent="0" marL="0">
                  <a:buNone/>
                </a:pPr>
                <a:r>
                  <a:rPr/>
                  <a:t>效率提升 原本手动处理数据需要数小时，LLM 辅助可将脚本编写时间压缩到 </a:t>
                </a:r>
                <a:r>
                  <a:rPr b="1"/>
                  <a:t>数分钟</a:t>
                </a:r>
                <a:r>
                  <a:rPr/>
                  <a:t>，工程师需验证逻辑。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实验室建设与文档规范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新人培训与本科生辅导</a:t>
                </a:r>
              </a:p>
              <a:p>
                <a:pPr lvl="0" indent="0" marL="0">
                  <a:buNone/>
                </a:pPr>
                <a:r>
                  <a:rPr/>
                  <a:t>0.48</a:t>
                </a:r>
              </a:p>
              <a:p>
                <a:pPr lvl="0" indent="0" marL="0">
                  <a:buNone/>
                </a:pPr>
                <a:r>
                  <a:rPr/>
                  <a:t>现状与挑战</a:t>
                </a:r>
              </a:p>
              <a:p>
                <a:pPr lvl="0"/>
                <a:r>
                  <a:rPr/>
                  <a:t>每年新生/本科生进入实验室，基础参差不齐</a:t>
                </a:r>
              </a:p>
              <a:p>
                <a:pPr lvl="0"/>
                <a:r>
                  <a:rPr/>
                  <a:t>高年级研究生需要花费大量时间指导基础问题</a:t>
                </a:r>
              </a:p>
              <a:p>
                <a:pPr lvl="0"/>
                <a:r>
                  <a:rPr/>
                  <a:t>常见问题高度重复：Verilog 语法、Linux 命令、Git 操作</a:t>
                </a:r>
              </a:p>
              <a:p>
                <a:pPr lvl="0" indent="0" marL="0">
                  <a:buNone/>
                </a:pPr>
                <a:r>
                  <a:rPr/>
                  <a:t>0.48</a:t>
                </a:r>
              </a:p>
              <a:p>
                <a:pPr lvl="0" indent="0" marL="0">
                  <a:buNone/>
                </a:pPr>
                <a:r>
                  <a:rPr/>
                  <a:t>LLM 作为 24h 基础助教</a:t>
                </a:r>
              </a:p>
              <a:p>
                <a:pPr lvl="0"/>
                <a:r>
                  <a:rPr b="1"/>
                  <a:t>Verilog 语法</a:t>
                </a:r>
                <a:r>
                  <a:rPr/>
                  <a:t>：always_ff / always_comb 用法辨析，可综合风格检查</a:t>
                </a:r>
              </a:p>
              <a:p>
                <a:pPr lvl="0"/>
                <a:r>
                  <a:rPr b="1"/>
                  <a:t>Linux 操作</a:t>
                </a:r>
                <a:r>
                  <a:rPr/>
                  <a:t>：服务器登录、文件权限、环境变量配置、模块加载</a:t>
                </a:r>
              </a:p>
              <a:p>
                <a:pPr lvl="0"/>
                <a:r>
                  <a:rPr b="1"/>
                  <a:t>Git 基础</a:t>
                </a:r>
                <a:r>
                  <a:rPr/>
                  <a:t>：clone / commit / branch / rebase 工作流指导</a:t>
                </a:r>
              </a:p>
              <a:p>
                <a:pPr lvl="0"/>
                <a:r>
                  <a:rPr b="1"/>
                  <a:t>工具链</a:t>
                </a:r>
                <a:r>
                  <a:rPr/>
                  <a:t>：VCS / Verdi / Vivado 的基本使用问答</a:t>
                </a:r>
              </a:p>
              <a:p>
                <a:pPr lvl="0" indent="0" marL="0">
                  <a:buNone/>
                </a:pPr>
                <a:r>
                  <a:rPr/>
                  <a:t>核心价值 释放指导精力，让学生专注于 架构指导 和 科研方向 而非重复性基础答疑。</a:t>
                </a:r>
              </a:p>
              <a:p>
                <a:pPr lvl="0" indent="0" marL="0">
                  <a:buNone/>
                </a:pPr>
                <a:r>
                  <a:rPr/>
                  <a:t>文档规范化</a:t>
                </a:r>
              </a:p>
              <a:p>
                <a:pPr lvl="0" indent="0" marL="0">
                  <a:buNone/>
                </a:pPr>
                <a:r>
                  <a:rPr/>
                  <a:t>0.45</a:t>
                </a:r>
              </a:p>
              <a:p>
                <a:pPr lvl="0" indent="0" marL="0">
                  <a:buNone/>
                </a:pPr>
                <a:r>
                  <a:rPr/>
                  <a:t>实验记录整理</a:t>
                </a:r>
              </a:p>
              <a:p>
                <a:pPr lvl="0"/>
                <a:r>
                  <a:rPr/>
                  <a:t>将凌乱的实验笔记转化为结构化文档</a:t>
                </a:r>
              </a:p>
              <a:p>
                <a:pPr lvl="0"/>
                <a:r>
                  <a:rPr/>
                  <a:t>自动补充缺失的实验条件（温度、工艺角、仿真器版本）</a:t>
                </a:r>
              </a:p>
              <a:p>
                <a:pPr lvl="0"/>
                <a:r>
                  <a:rPr/>
                  <a:t>生成标准化的实验报告模板</a:t>
                </a:r>
              </a:p>
              <a:p>
                <a:pPr lvl="0" indent="0" marL="0">
                  <a:buNone/>
                </a:pPr>
                <a:r>
                  <a:rPr/>
                  <a:t>0.45</a:t>
                </a:r>
              </a:p>
              <a:p>
                <a:pPr lvl="0" indent="0" marL="0">
                  <a:buNone/>
                </a:pPr>
                <a:r>
                  <a:rPr/>
                  <a:t>LaTeX 写作辅助</a:t>
                </a:r>
              </a:p>
              <a:p>
                <a:pPr lvl="0"/>
                <a:r>
                  <a:rPr/>
                  <a:t>快速生成复杂公式的 LaTeX 代码</a:t>
                </a:r>
              </a:p>
              <a:p>
                <a:pPr lvl="0"/>
                <a:r>
                  <a:rPr/>
                  <a:t>自动生成系统架构图的 TikZ 排版代码</a:t>
                </a:r>
              </a:p>
              <a:p>
                <a:pPr lvl="0"/>
                <a:r>
                  <a:rPr/>
                  <a:t>参考文献 BibTeX 条目格式化</a:t>
                </a:r>
              </a:p>
              <a:p>
                <a:pPr lvl="0"/>
                <a:r>
                  <a:rPr/>
                  <a:t>报告/论文的语法润色与术语一致性检查</a:t>
                </a:r>
              </a:p>
              <a:p>
                <a:pPr lvl="0" indent="0" marL="0">
                  <a:buNone/>
                </a:pPr>
                <a:r>
                  <a:rPr/>
                  <a:t>典型工作流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LLM 生成 LaTeX 骨架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工程师补充细节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LLM润色语言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最终报告。</a:t>
                </a:r>
              </a:p>
              <a:p>
                <a:pPr lvl="0" indent="0" marL="0">
                  <a:buNone/>
                </a:pPr>
                <a:r>
                  <a:rPr/>
                  <a:t>文档规范化示例：实验报告生成</a:t>
                </a:r>
              </a:p>
              <a:p>
                <a:pPr lvl="0" indent="0" marL="0">
                  <a:buNone/>
                </a:pPr>
                <a:r>
                  <a:rPr/>
                  <a:t>用户提示词 “根据项目代码，帮我新建一个 doc 目录，我要在其中撰写 LaTeX 文档，帮我规划好 LaTeX 项目管理格式，重点是规范中间输出文件的管理，我使用的环境是 VS Code 中的 LaTeX Workshop。”</a:t>
                </a:r>
              </a:p>
              <a:p>
                <a:pPr lvl="0" indent="0" marL="0">
                  <a:buNone/>
                </a:pPr>
                <a:r>
                  <a:rPr/>
                  <a:t>0.48 image</a:t>
                </a:r>
              </a:p>
              <a:p>
                <a:pPr lvl="0" indent="0" marL="0">
                  <a:buNone/>
                </a:pPr>
                <a:r>
                  <a:rPr/>
                  <a:t>0.48 image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实施方案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实施方案一：多卡 GPU 工作站</a:t>
                </a:r>
              </a:p>
              <a:p>
                <a:pPr lvl="0" indent="0" marL="0">
                  <a:buNone/>
                </a:pPr>
                <a:r>
                  <a:rPr/>
                  <a:t>0.48</a:t>
                </a:r>
              </a:p>
              <a:p>
                <a:pPr lvl="0" indent="0" marL="0">
                  <a:buNone/>
                </a:pPr>
                <a:r>
                  <a:rPr/>
                  <a:t>硬件配置</a:t>
                </a:r>
              </a:p>
              <a:p>
                <a:pPr lvl="0"/>
                <a:r>
                  <a:rPr b="1"/>
                  <a:t>GPU</a:t>
                </a:r>
                <a:r>
                  <a:rPr/>
                  <a:t>：8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</m:oMath>
                </a14:m>
                <a:r>
                  <a:rPr/>
                  <a:t> NVIDIA RTX 4090 / 5090</a:t>
                </a:r>
              </a:p>
              <a:p>
                <a:pPr lvl="0"/>
                <a:r>
                  <a:rPr b="1"/>
                  <a:t>总显存</a:t>
                </a:r>
                <a:r>
                  <a:rPr/>
                  <a:t>：8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</m:oMath>
                </a14:m>
                <a:r>
                  <a:rPr/>
                  <a:t> 32 GiB = 256 GiB</a:t>
                </a:r>
              </a:p>
              <a:p>
                <a:pPr lvl="0"/>
                <a:r>
                  <a:rPr b="1"/>
                  <a:t>适用模型</a:t>
                </a:r>
                <a:r>
                  <a:rPr/>
                  <a:t>：32B 参数级别模型（Qwen 32B、DeepSeek 32B、LLaMA 3.1 8B/70B 量化版等）</a:t>
                </a:r>
              </a:p>
              <a:p>
                <a:pPr lvl="0"/>
                <a:r>
                  <a:rPr b="1"/>
                  <a:t>成本估算</a:t>
                </a:r>
                <a:r>
                  <a:rPr/>
                  <a:t>：约 30–40 万元</a:t>
                </a:r>
              </a:p>
              <a:p>
                <a:pPr lvl="0"/>
                <a:r>
                  <a:rPr b="1"/>
                  <a:t>部署方式</a:t>
                </a:r>
                <a:r>
                  <a:rPr/>
                  <a:t>：内网本地部署，数据不出实验室</a:t>
                </a:r>
              </a:p>
              <a:p>
                <a:pPr lvl="0" indent="0" marL="0">
                  <a:buNone/>
                </a:pPr>
                <a:r>
                  <a:rPr/>
                  <a:t>0.48</a:t>
                </a:r>
              </a:p>
              <a:p>
                <a:pPr lvl="0" indent="0" marL="0">
                  <a:buNone/>
                </a:pPr>
                <a:r>
                  <a:rPr/>
                  <a:t>硬件采购参考：8×4090 工作站 image</a:t>
                </a:r>
              </a:p>
              <a:p>
                <a:pPr lvl="0" indent="0" marL="0">
                  <a:buNone/>
                </a:pPr>
                <a:r>
                  <a:rPr/>
                  <a:t>供应商报价参考 image</a:t>
                </a:r>
              </a:p>
              <a:p>
                <a:pPr lvl="0" indent="0" marL="0">
                  <a:buNone/>
                </a:pPr>
                <a:r>
                  <a:rPr/>
                  <a:t>说明 供应商针对 8*H100工作站及配套设备的详细报价单，包含冗余的配置。实际4*H100 77万。</a:t>
                </a:r>
              </a:p>
              <a:p>
                <a:pPr lvl="0" indent="0" marL="0">
                  <a:buNone/>
                </a:pPr>
                <a:r>
                  <a:rPr/>
                  <a:t>供应商报价参考 image</a:t>
                </a:r>
              </a:p>
              <a:p>
                <a:pPr lvl="0" indent="0" marL="0">
                  <a:buNone/>
                </a:pPr>
                <a:r>
                  <a:rPr/>
                  <a:t>模型选型对比：32B 级稠密模型 vs MoE 模型</a:t>
                </a:r>
              </a:p>
              <a:p>
                <a:pPr lvl="0" indent="0" marL="0">
                  <a:buNone/>
                </a:pPr>
                <a:r>
                  <a:rPr/>
                  <a:t>选型建议 单机 8 卡 4090/5090（256 GB 总显存）可同时常驻 </a:t>
                </a:r>
                <a:r>
                  <a:rPr b="1"/>
                  <a:t>Qwen2.5-Coder-32B</a:t>
                </a:r>
                <a:r>
                  <a:rPr/>
                  <a:t>（主编码）</a:t>
                </a:r>
                <a:r>
                  <a:rPr b="1"/>
                  <a:t>+ DeepSeek-R1-Distill-Qwen-32B</a:t>
                </a:r>
                <a:r>
                  <a:rPr/>
                  <a:t>（推理 Debug）， 必要时以张量并行加载 </a:t>
                </a:r>
                <a:r>
                  <a:rPr b="1"/>
                  <a:t>DeepSeek-Coder-V2</a:t>
                </a:r>
                <a:r>
                  <a:rPr/>
                  <a:t> 进行大规模代码库分析。</a:t>
                </a:r>
              </a:p>
              <a:p>
                <a:pPr lvl="0" indent="0" marL="0">
                  <a:buNone/>
                </a:pPr>
                <a:r>
                  <a:rPr/>
                  <a:t>vLLM网站 image</a:t>
                </a:r>
              </a:p>
              <a:p>
                <a:pPr lvl="0" indent="0" marL="0">
                  <a:buNone/>
                </a:pPr>
                <a:r>
                  <a:rPr/>
                  <a:t>本地部署示例：Ollama 命令行推理</a:t>
                </a:r>
              </a:p>
              <a:p>
                <a:pPr lvl="0" indent="0" marL="0">
                  <a:buNone/>
                </a:pPr>
                <a:r>
                  <a:rPr/>
                  <a:t>0.7 image</a:t>
                </a:r>
              </a:p>
              <a:p>
                <a:pPr lvl="0" indent="0" marL="0">
                  <a:buNone/>
                </a:pPr>
                <a:r>
                  <a:rPr/>
                  <a:t>0.3</a:t>
                </a:r>
              </a:p>
              <a:p>
                <a:pPr lvl="0" indent="0" marL="0">
                  <a:buNone/>
                </a:pPr>
                <a:r>
                  <a:rPr/>
                  <a:t>说明 通过 Ollama 在本地加载量化模型（图中为Gemma 4 E4B,仅4.5B参数，显存占用9.5GiB），终端直接对话。</a:t>
                </a:r>
              </a:p>
              <a:p>
                <a:pPr lvl="0" indent="0" marL="0">
                  <a:buNone/>
                </a:pPr>
                <a:r>
                  <a:rPr/>
                  <a:t>本地部署示例：VS Code Copilot 本地Agent image</a:t>
                </a:r>
              </a:p>
              <a:p>
                <a:pPr lvl="0" indent="0" marL="0">
                  <a:buNone/>
                </a:pPr>
                <a:r>
                  <a:rPr/>
                  <a:t>说明 Agent类代码工具对接本地推理服务：途中通过 Copilot CLI 与本地 LLM 交互.可用于完成代码生成、文档查询、日志分析等任务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总结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三大应用方向总结</a:t>
            </a:r>
          </a:p>
          <a:p>
            <a:pPr lvl="0" indent="0" marL="0">
              <a:buNone/>
            </a:pPr>
            <a:r>
              <a:rPr/>
              <a:t>核心判断 内网 LLM 在 IC 实验室场景中，价值不在于替代工程师的创造力，而在于消除 </a:t>
            </a:r>
            <a:r>
              <a:rPr b="1"/>
              <a:t>重复性、事务性</a:t>
            </a:r>
            <a:r>
              <a:rPr/>
              <a:t> 工作对创造力的挤占。</a:t>
            </a:r>
          </a:p>
          <a:p>
            <a:pPr lvl="0" indent="0" marL="0">
              <a:buNone/>
            </a:pPr>
            <a:r>
              <a:rPr/>
              <a:t> 谢谢！欢迎提问</a:t>
            </a:r>
          </a:p>
          <a:p>
            <a:pPr lvl="0" indent="0" marL="0">
              <a:buNone/>
            </a:pPr>
            <a:r>
              <a:rPr/>
              <a:t>邮箱：katsu119@foxmail.com</a:t>
            </a:r>
          </a:p>
          <a:p>
            <a:pPr lvl="0" indent="0" marL="0">
              <a:buNone/>
            </a:pPr>
            <a:r>
              <a:rPr/>
              <a:t>GitHub：github.com/katsu119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内网部署大语言模型的应用价值</dc:title>
  <dc:creator>葛良晨</dc:creator>
  <cp:keywords/>
  <dcterms:created xsi:type="dcterms:W3CDTF">2026-06-22T09:35:09Z</dcterms:created>
  <dcterms:modified xsi:type="dcterms:W3CDTF">2026-06-22T09:35:09Z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2026-06-22</vt:lpwstr>
  </property>
  <property fmtid="{D5CDD505-2E9C-101B-9397-08002B2CF9AE}" pid="3" name="subtitle">
    <vt:lpwstr>数字 IC · 模拟 IC · 实验室建设</vt:lpwstr>
  </property>
</Properties>
</file>