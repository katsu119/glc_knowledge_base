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7"/>
  </p:handoutMasterIdLst>
  <p:sldIdLst>
    <p:sldId id="257" r:id="rId3"/>
    <p:sldId id="258" r:id="rId4"/>
    <p:sldId id="256" r:id="rId5"/>
    <p:sldId id="259" r:id="rId7"/>
    <p:sldId id="265" r:id="rId8"/>
    <p:sldId id="266" r:id="rId9"/>
    <p:sldId id="267" r:id="rId10"/>
    <p:sldId id="268" r:id="rId11"/>
    <p:sldId id="260" r:id="rId12"/>
    <p:sldId id="263" r:id="rId13"/>
    <p:sldId id="261" r:id="rId14"/>
    <p:sldId id="264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5" userDrawn="1">
          <p15:clr>
            <a:srgbClr val="A4A3A4"/>
          </p15:clr>
        </p15:guide>
        <p15:guide id="2" pos="38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15"/>
        <p:guide pos="382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0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-8255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葛良晨</a:t>
            </a:r>
            <a:r>
              <a:rPr lang="en-US" altLang="zh-CN"/>
              <a:t> 260806 </a:t>
            </a:r>
            <a:r>
              <a:rPr lang="en-US" altLang="zh-CN"/>
              <a:t>SPI</a:t>
            </a:r>
            <a:endParaRPr lang="zh-CN" altLang="en-US"/>
          </a:p>
        </p:txBody>
      </p:sp>
      <p:graphicFrame>
        <p:nvGraphicFramePr>
          <p:cNvPr id="7" name="表格 6"/>
          <p:cNvGraphicFramePr/>
          <p:nvPr/>
        </p:nvGraphicFramePr>
        <p:xfrm>
          <a:off x="208915" y="476885"/>
          <a:ext cx="8534400" cy="12255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67200"/>
                <a:gridCol w="4267200"/>
              </a:tblGrid>
              <a:tr h="4635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SPI</a:t>
                      </a:r>
                      <a:r>
                        <a:rPr lang="zh-CN" altLang="en-US"/>
                        <a:t>寄存器列表</a:t>
                      </a:r>
                      <a:r>
                        <a:rPr lang="zh-CN" altLang="en-US"/>
                        <a:t>整理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完成</a:t>
                      </a:r>
                      <a:r>
                        <a:rPr lang="zh-CN" altLang="en-US"/>
                        <a:t>✅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SPI</a:t>
                      </a:r>
                      <a:r>
                        <a:rPr lang="zh-CN" altLang="en-US"/>
                        <a:t>驱动器</a:t>
                      </a:r>
                      <a:r>
                        <a:rPr lang="zh-CN" altLang="en-US"/>
                        <a:t>硬件测试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进行中，</a:t>
                      </a:r>
                      <a:r>
                        <a:rPr lang="en-US" altLang="zh-CN"/>
                        <a:t> SPI</a:t>
                      </a:r>
                      <a:r>
                        <a:rPr lang="zh-CN" altLang="en-US"/>
                        <a:t>控制器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15" y="1983740"/>
            <a:ext cx="3917315" cy="40805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31800" y="2387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9PI</a:t>
            </a:r>
            <a:r>
              <a:rPr lang="zh-CN" altLang="en-US"/>
              <a:t>结构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788795" y="119316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3</a:t>
            </a:r>
            <a:endParaRPr lang="en-US" altLang="zh-CN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88795" y="242125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3</a:t>
            </a:r>
            <a:endParaRPr lang="en-US" altLang="zh-CN">
              <a:sym typeface="+mn-ea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2703195" y="141541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554990" y="162115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17220" y="119316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r>
              <a:rPr lang="en-US" altLang="zh-CN"/>
              <a:t>phase</a:t>
            </a:r>
            <a:endParaRPr lang="en-US" altLang="zh-CN"/>
          </a:p>
        </p:txBody>
      </p:sp>
      <p:cxnSp>
        <p:nvCxnSpPr>
          <p:cNvPr id="9" name="直接箭头连接符 8"/>
          <p:cNvCxnSpPr/>
          <p:nvPr/>
        </p:nvCxnSpPr>
        <p:spPr>
          <a:xfrm>
            <a:off x="2703195" y="176149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830195" y="1021080"/>
            <a:ext cx="329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0</a:t>
            </a:r>
            <a:endParaRPr lang="en-US" altLang="zh-CN" sz="1200"/>
          </a:p>
        </p:txBody>
      </p:sp>
      <p:sp>
        <p:nvSpPr>
          <p:cNvPr id="11" name="文本框 10"/>
          <p:cNvSpPr txBox="1"/>
          <p:nvPr/>
        </p:nvSpPr>
        <p:spPr>
          <a:xfrm>
            <a:off x="2830195" y="141224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45</a:t>
            </a:r>
            <a:endParaRPr lang="en-US" altLang="zh-CN" sz="120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554990" y="278701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54990" y="229806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r>
              <a:rPr lang="en-US" altLang="zh-CN"/>
              <a:t>phase</a:t>
            </a:r>
            <a:endParaRPr lang="en-US" altLang="zh-CN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2703195" y="265493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2703195" y="300101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714625" y="2332355"/>
            <a:ext cx="7410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180</a:t>
            </a:r>
            <a:endParaRPr lang="en-US" altLang="zh-CN" sz="1200"/>
          </a:p>
        </p:txBody>
      </p:sp>
      <p:sp>
        <p:nvSpPr>
          <p:cNvPr id="18" name="文本框 17"/>
          <p:cNvSpPr txBox="1"/>
          <p:nvPr/>
        </p:nvSpPr>
        <p:spPr>
          <a:xfrm>
            <a:off x="2714625" y="268097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225</a:t>
            </a:r>
            <a:endParaRPr lang="en-US" altLang="zh-CN" sz="1200"/>
          </a:p>
        </p:txBody>
      </p:sp>
      <p:sp>
        <p:nvSpPr>
          <p:cNvPr id="19" name="矩形 18"/>
          <p:cNvSpPr/>
          <p:nvPr/>
        </p:nvSpPr>
        <p:spPr>
          <a:xfrm>
            <a:off x="1732915" y="423608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3</a:t>
            </a:r>
            <a:endParaRPr lang="en-US" altLang="zh-CN"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32915" y="546417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3</a:t>
            </a:r>
            <a:endParaRPr lang="en-US" altLang="zh-CN">
              <a:sym typeface="+mn-ea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647315" y="445833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499110" y="466407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61340" y="423608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r>
              <a:rPr lang="en-US" altLang="zh-CN"/>
              <a:t>phase</a:t>
            </a:r>
            <a:endParaRPr lang="en-US" altLang="zh-CN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2647315" y="480441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2703195" y="4106545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90</a:t>
            </a:r>
            <a:endParaRPr lang="en-US" altLang="zh-CN" sz="1200"/>
          </a:p>
        </p:txBody>
      </p:sp>
      <p:sp>
        <p:nvSpPr>
          <p:cNvPr id="27" name="文本框 26"/>
          <p:cNvSpPr txBox="1"/>
          <p:nvPr/>
        </p:nvSpPr>
        <p:spPr>
          <a:xfrm>
            <a:off x="2647315" y="445516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135</a:t>
            </a:r>
            <a:endParaRPr lang="en-US" altLang="zh-CN" sz="1200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499110" y="582993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499110" y="534098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r>
              <a:rPr lang="en-US" altLang="zh-CN"/>
              <a:t>phase</a:t>
            </a:r>
            <a:endParaRPr lang="en-US" altLang="zh-CN"/>
          </a:p>
        </p:txBody>
      </p:sp>
      <p:cxnSp>
        <p:nvCxnSpPr>
          <p:cNvPr id="30" name="直接箭头连接符 29"/>
          <p:cNvCxnSpPr/>
          <p:nvPr/>
        </p:nvCxnSpPr>
        <p:spPr>
          <a:xfrm>
            <a:off x="2647315" y="569785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2647315" y="604393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2703195" y="5354955"/>
            <a:ext cx="7410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270</a:t>
            </a:r>
            <a:endParaRPr lang="en-US" altLang="zh-CN" sz="1200"/>
          </a:p>
        </p:txBody>
      </p:sp>
      <p:sp>
        <p:nvSpPr>
          <p:cNvPr id="33" name="文本框 32"/>
          <p:cNvSpPr txBox="1"/>
          <p:nvPr/>
        </p:nvSpPr>
        <p:spPr>
          <a:xfrm>
            <a:off x="2703195" y="5709285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315</a:t>
            </a:r>
            <a:endParaRPr lang="en-US" altLang="zh-CN" sz="1200"/>
          </a:p>
        </p:txBody>
      </p:sp>
      <p:cxnSp>
        <p:nvCxnSpPr>
          <p:cNvPr id="34" name="直接箭头连接符 33"/>
          <p:cNvCxnSpPr/>
          <p:nvPr/>
        </p:nvCxnSpPr>
        <p:spPr>
          <a:xfrm>
            <a:off x="1120775" y="1957070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328930" y="1745615"/>
            <a:ext cx="1215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3bit</a:t>
            </a:r>
            <a:r>
              <a:rPr lang="zh-CN" altLang="en-US" sz="1400"/>
              <a:t>选择</a:t>
            </a:r>
            <a:r>
              <a:rPr lang="en-US" altLang="zh-CN" sz="1400"/>
              <a:t> I</a:t>
            </a:r>
            <a:r>
              <a:rPr lang="zh-CN" altLang="en-US" sz="1400"/>
              <a:t>路</a:t>
            </a:r>
            <a:endParaRPr lang="zh-CN" altLang="en-US" sz="1400"/>
          </a:p>
        </p:txBody>
      </p:sp>
      <p:cxnSp>
        <p:nvCxnSpPr>
          <p:cNvPr id="36" name="肘形连接符 35"/>
          <p:cNvCxnSpPr/>
          <p:nvPr/>
        </p:nvCxnSpPr>
        <p:spPr>
          <a:xfrm rot="5400000" flipV="1">
            <a:off x="1085215" y="2383790"/>
            <a:ext cx="1131570" cy="277495"/>
          </a:xfrm>
          <a:prstGeom prst="bentConnector3">
            <a:avLst>
              <a:gd name="adj1" fmla="val 100028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718185" y="3098165"/>
            <a:ext cx="1248410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3bit</a:t>
            </a:r>
            <a:r>
              <a:rPr lang="zh-CN" altLang="en-US" sz="900"/>
              <a:t>选择</a:t>
            </a:r>
            <a:r>
              <a:rPr lang="en-US" altLang="zh-CN" sz="900"/>
              <a:t>+4</a:t>
            </a:r>
            <a:r>
              <a:rPr lang="zh-CN" altLang="en-US" sz="900"/>
              <a:t>，差分</a:t>
            </a:r>
            <a:endParaRPr lang="zh-CN" altLang="en-US" sz="900"/>
          </a:p>
        </p:txBody>
      </p:sp>
      <p:cxnSp>
        <p:nvCxnSpPr>
          <p:cNvPr id="39" name="直接箭头连接符 38"/>
          <p:cNvCxnSpPr/>
          <p:nvPr/>
        </p:nvCxnSpPr>
        <p:spPr>
          <a:xfrm>
            <a:off x="1063625" y="4968875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271780" y="4757420"/>
            <a:ext cx="13347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3bit</a:t>
            </a:r>
            <a:r>
              <a:rPr lang="zh-CN" altLang="en-US" sz="1400"/>
              <a:t>选择</a:t>
            </a:r>
            <a:r>
              <a:rPr lang="en-US" altLang="zh-CN" sz="1400"/>
              <a:t> Q</a:t>
            </a:r>
            <a:r>
              <a:rPr lang="zh-CN" altLang="en-US" sz="1400"/>
              <a:t>路</a:t>
            </a:r>
            <a:endParaRPr lang="zh-CN" altLang="en-US" sz="1400"/>
          </a:p>
        </p:txBody>
      </p:sp>
      <p:cxnSp>
        <p:nvCxnSpPr>
          <p:cNvPr id="41" name="肘形连接符 40"/>
          <p:cNvCxnSpPr/>
          <p:nvPr/>
        </p:nvCxnSpPr>
        <p:spPr>
          <a:xfrm rot="5400000" flipV="1">
            <a:off x="1028065" y="5395595"/>
            <a:ext cx="1131570" cy="277495"/>
          </a:xfrm>
          <a:prstGeom prst="bentConnector3">
            <a:avLst>
              <a:gd name="adj1" fmla="val 100028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661035" y="6109970"/>
            <a:ext cx="1248410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3bit</a:t>
            </a:r>
            <a:r>
              <a:rPr lang="zh-CN" altLang="en-US" sz="900"/>
              <a:t>选择</a:t>
            </a:r>
            <a:r>
              <a:rPr lang="en-US" altLang="zh-CN" sz="900"/>
              <a:t>+4</a:t>
            </a:r>
            <a:r>
              <a:rPr lang="zh-CN" altLang="en-US" sz="900"/>
              <a:t>，差分</a:t>
            </a:r>
            <a:endParaRPr lang="zh-CN" altLang="en-US" sz="900"/>
          </a:p>
        </p:txBody>
      </p:sp>
      <p:sp>
        <p:nvSpPr>
          <p:cNvPr id="43" name="矩形 42"/>
          <p:cNvSpPr/>
          <p:nvPr/>
        </p:nvSpPr>
        <p:spPr>
          <a:xfrm>
            <a:off x="4495800" y="108648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PI</a:t>
            </a:r>
            <a:endParaRPr lang="en-US" altLang="zh-CN"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495800" y="240665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PI</a:t>
            </a:r>
            <a:endParaRPr lang="en-US" altLang="zh-CN">
              <a:sym typeface="+mn-ea"/>
            </a:endParaRP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3926840" y="132143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3926840" y="166751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4053840" y="927100"/>
            <a:ext cx="329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0</a:t>
            </a:r>
            <a:endParaRPr lang="en-US" altLang="zh-CN" sz="1200"/>
          </a:p>
        </p:txBody>
      </p:sp>
      <p:sp>
        <p:nvSpPr>
          <p:cNvPr id="48" name="文本框 47"/>
          <p:cNvSpPr txBox="1"/>
          <p:nvPr/>
        </p:nvSpPr>
        <p:spPr>
          <a:xfrm>
            <a:off x="3886200" y="144653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45</a:t>
            </a:r>
            <a:endParaRPr lang="en-US" altLang="zh-CN" sz="1200"/>
          </a:p>
        </p:txBody>
      </p:sp>
      <p:cxnSp>
        <p:nvCxnSpPr>
          <p:cNvPr id="49" name="直接箭头连接符 48"/>
          <p:cNvCxnSpPr/>
          <p:nvPr/>
        </p:nvCxnSpPr>
        <p:spPr>
          <a:xfrm>
            <a:off x="3926840" y="256095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3926840" y="290703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3926840" y="2218690"/>
            <a:ext cx="609600" cy="264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180</a:t>
            </a:r>
            <a:endParaRPr lang="en-US" altLang="zh-CN" sz="1200"/>
          </a:p>
        </p:txBody>
      </p:sp>
      <p:sp>
        <p:nvSpPr>
          <p:cNvPr id="52" name="文本框 51"/>
          <p:cNvSpPr txBox="1"/>
          <p:nvPr/>
        </p:nvSpPr>
        <p:spPr>
          <a:xfrm>
            <a:off x="3938270" y="258699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225</a:t>
            </a:r>
            <a:endParaRPr lang="en-US" altLang="zh-CN" sz="1200"/>
          </a:p>
        </p:txBody>
      </p:sp>
      <p:cxnSp>
        <p:nvCxnSpPr>
          <p:cNvPr id="53" name="直接箭头连接符 52"/>
          <p:cNvCxnSpPr/>
          <p:nvPr/>
        </p:nvCxnSpPr>
        <p:spPr>
          <a:xfrm>
            <a:off x="3926840" y="462153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3926840" y="496760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3982720" y="4269740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90</a:t>
            </a:r>
            <a:endParaRPr lang="en-US" altLang="zh-CN" sz="1200"/>
          </a:p>
        </p:txBody>
      </p:sp>
      <p:sp>
        <p:nvSpPr>
          <p:cNvPr id="56" name="文本框 55"/>
          <p:cNvSpPr txBox="1"/>
          <p:nvPr/>
        </p:nvSpPr>
        <p:spPr>
          <a:xfrm>
            <a:off x="3926840" y="4618355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135</a:t>
            </a:r>
            <a:endParaRPr lang="en-US" altLang="zh-CN" sz="1200"/>
          </a:p>
        </p:txBody>
      </p:sp>
      <p:cxnSp>
        <p:nvCxnSpPr>
          <p:cNvPr id="57" name="直接箭头连接符 56"/>
          <p:cNvCxnSpPr/>
          <p:nvPr/>
        </p:nvCxnSpPr>
        <p:spPr>
          <a:xfrm>
            <a:off x="3926840" y="586105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3926840" y="620712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3982720" y="5518150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270</a:t>
            </a:r>
            <a:endParaRPr lang="en-US" altLang="zh-CN" sz="1200"/>
          </a:p>
        </p:txBody>
      </p:sp>
      <p:sp>
        <p:nvSpPr>
          <p:cNvPr id="60" name="文本框 59"/>
          <p:cNvSpPr txBox="1"/>
          <p:nvPr/>
        </p:nvSpPr>
        <p:spPr>
          <a:xfrm>
            <a:off x="3982720" y="5872480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315</a:t>
            </a:r>
            <a:endParaRPr lang="en-US" altLang="zh-CN" sz="1200"/>
          </a:p>
        </p:txBody>
      </p:sp>
      <p:sp>
        <p:nvSpPr>
          <p:cNvPr id="61" name="矩形 60"/>
          <p:cNvSpPr/>
          <p:nvPr/>
        </p:nvSpPr>
        <p:spPr>
          <a:xfrm>
            <a:off x="4495800" y="431736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PI</a:t>
            </a:r>
            <a:endParaRPr lang="en-US" altLang="zh-CN"/>
          </a:p>
        </p:txBody>
      </p:sp>
      <p:sp>
        <p:nvSpPr>
          <p:cNvPr id="62" name="矩形 61"/>
          <p:cNvSpPr/>
          <p:nvPr/>
        </p:nvSpPr>
        <p:spPr>
          <a:xfrm>
            <a:off x="4536440" y="551815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PI</a:t>
            </a:r>
            <a:endParaRPr lang="en-US" altLang="zh-CN"/>
          </a:p>
        </p:txBody>
      </p:sp>
      <p:cxnSp>
        <p:nvCxnSpPr>
          <p:cNvPr id="63" name="直接箭头连接符 62"/>
          <p:cNvCxnSpPr/>
          <p:nvPr/>
        </p:nvCxnSpPr>
        <p:spPr>
          <a:xfrm>
            <a:off x="5410200" y="156146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5450840" y="286258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5410200" y="475742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5410200" y="587248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3848735" y="1869440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8" name="肘形连接符 67"/>
          <p:cNvCxnSpPr/>
          <p:nvPr/>
        </p:nvCxnSpPr>
        <p:spPr>
          <a:xfrm rot="5400000" flipV="1">
            <a:off x="3813175" y="2296160"/>
            <a:ext cx="1131570" cy="277495"/>
          </a:xfrm>
          <a:prstGeom prst="bentConnector3">
            <a:avLst>
              <a:gd name="adj1" fmla="val 100028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3612515" y="1942465"/>
            <a:ext cx="628015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5bit</a:t>
            </a:r>
            <a:r>
              <a:rPr lang="zh-CN" altLang="en-US" sz="900"/>
              <a:t>插值</a:t>
            </a:r>
            <a:endParaRPr lang="zh-CN" altLang="en-US" sz="900"/>
          </a:p>
        </p:txBody>
      </p:sp>
      <p:cxnSp>
        <p:nvCxnSpPr>
          <p:cNvPr id="70" name="直接箭头连接符 69"/>
          <p:cNvCxnSpPr/>
          <p:nvPr/>
        </p:nvCxnSpPr>
        <p:spPr>
          <a:xfrm>
            <a:off x="3826510" y="5173345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肘形连接符 70"/>
          <p:cNvCxnSpPr/>
          <p:nvPr/>
        </p:nvCxnSpPr>
        <p:spPr>
          <a:xfrm rot="5400000" flipV="1">
            <a:off x="3790950" y="5600065"/>
            <a:ext cx="1131570" cy="277495"/>
          </a:xfrm>
          <a:prstGeom prst="bentConnector3">
            <a:avLst>
              <a:gd name="adj1" fmla="val 100028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3590290" y="5246370"/>
            <a:ext cx="628015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5bit</a:t>
            </a:r>
            <a:r>
              <a:rPr lang="zh-CN" altLang="en-US" sz="900"/>
              <a:t>插值</a:t>
            </a:r>
            <a:endParaRPr lang="zh-CN" altLang="en-US" sz="900"/>
          </a:p>
        </p:txBody>
      </p:sp>
      <p:sp>
        <p:nvSpPr>
          <p:cNvPr id="73" name="矩形 72"/>
          <p:cNvSpPr/>
          <p:nvPr/>
        </p:nvSpPr>
        <p:spPr>
          <a:xfrm>
            <a:off x="7851140" y="126682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2</a:t>
            </a:r>
            <a:endParaRPr lang="en-US" altLang="zh-CN">
              <a:sym typeface="+mn-ea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7851140" y="249491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2</a:t>
            </a:r>
            <a:endParaRPr lang="en-US" altLang="zh-CN">
              <a:sym typeface="+mn-ea"/>
            </a:endParaRPr>
          </a:p>
        </p:txBody>
      </p:sp>
      <p:cxnSp>
        <p:nvCxnSpPr>
          <p:cNvPr id="75" name="直接箭头连接符 74"/>
          <p:cNvCxnSpPr/>
          <p:nvPr/>
        </p:nvCxnSpPr>
        <p:spPr>
          <a:xfrm>
            <a:off x="8765540" y="148907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6617335" y="169481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6679565" y="126682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4phase</a:t>
            </a:r>
            <a:endParaRPr lang="en-US" altLang="zh-CN"/>
          </a:p>
        </p:txBody>
      </p:sp>
      <p:cxnSp>
        <p:nvCxnSpPr>
          <p:cNvPr id="78" name="直接箭头连接符 77"/>
          <p:cNvCxnSpPr/>
          <p:nvPr/>
        </p:nvCxnSpPr>
        <p:spPr>
          <a:xfrm>
            <a:off x="8765540" y="183515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8892540" y="1094740"/>
            <a:ext cx="329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0</a:t>
            </a:r>
            <a:endParaRPr lang="en-US" altLang="zh-CN" sz="1200"/>
          </a:p>
        </p:txBody>
      </p:sp>
      <p:sp>
        <p:nvSpPr>
          <p:cNvPr id="80" name="文本框 79"/>
          <p:cNvSpPr txBox="1"/>
          <p:nvPr/>
        </p:nvSpPr>
        <p:spPr>
          <a:xfrm>
            <a:off x="8892540" y="148590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90</a:t>
            </a:r>
            <a:endParaRPr lang="en-US" altLang="zh-CN" sz="1200"/>
          </a:p>
        </p:txBody>
      </p:sp>
      <p:cxnSp>
        <p:nvCxnSpPr>
          <p:cNvPr id="81" name="直接箭头连接符 80"/>
          <p:cNvCxnSpPr/>
          <p:nvPr/>
        </p:nvCxnSpPr>
        <p:spPr>
          <a:xfrm>
            <a:off x="6617335" y="286067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6617335" y="237172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4phase</a:t>
            </a:r>
            <a:endParaRPr lang="en-US" altLang="zh-CN"/>
          </a:p>
        </p:txBody>
      </p:sp>
      <p:cxnSp>
        <p:nvCxnSpPr>
          <p:cNvPr id="83" name="直接箭头连接符 82"/>
          <p:cNvCxnSpPr/>
          <p:nvPr/>
        </p:nvCxnSpPr>
        <p:spPr>
          <a:xfrm>
            <a:off x="8765540" y="272859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>
            <a:off x="8765540" y="307467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8776970" y="2406015"/>
            <a:ext cx="7410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180</a:t>
            </a:r>
            <a:endParaRPr lang="en-US" altLang="zh-CN" sz="1200"/>
          </a:p>
        </p:txBody>
      </p:sp>
      <p:sp>
        <p:nvSpPr>
          <p:cNvPr id="86" name="文本框 85"/>
          <p:cNvSpPr txBox="1"/>
          <p:nvPr/>
        </p:nvSpPr>
        <p:spPr>
          <a:xfrm>
            <a:off x="8776970" y="275463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270</a:t>
            </a:r>
            <a:endParaRPr lang="en-US" altLang="zh-CN" sz="1200"/>
          </a:p>
        </p:txBody>
      </p:sp>
      <p:sp>
        <p:nvSpPr>
          <p:cNvPr id="87" name="矩形 86"/>
          <p:cNvSpPr/>
          <p:nvPr/>
        </p:nvSpPr>
        <p:spPr>
          <a:xfrm>
            <a:off x="7795260" y="430974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2</a:t>
            </a:r>
            <a:endParaRPr lang="en-US" altLang="zh-CN">
              <a:sym typeface="+mn-ea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7795260" y="553783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r>
              <a:rPr lang="en-US" altLang="zh-CN">
                <a:sym typeface="+mn-ea"/>
              </a:rPr>
              <a:t>2</a:t>
            </a:r>
            <a:endParaRPr lang="en-US" altLang="zh-CN">
              <a:sym typeface="+mn-ea"/>
            </a:endParaRPr>
          </a:p>
        </p:txBody>
      </p:sp>
      <p:cxnSp>
        <p:nvCxnSpPr>
          <p:cNvPr id="89" name="直接箭头连接符 88"/>
          <p:cNvCxnSpPr/>
          <p:nvPr/>
        </p:nvCxnSpPr>
        <p:spPr>
          <a:xfrm>
            <a:off x="8709660" y="453199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6561455" y="473773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/>
        </p:nvSpPr>
        <p:spPr>
          <a:xfrm>
            <a:off x="6623685" y="430974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4phase</a:t>
            </a:r>
            <a:endParaRPr lang="en-US" altLang="zh-CN"/>
          </a:p>
        </p:txBody>
      </p:sp>
      <p:cxnSp>
        <p:nvCxnSpPr>
          <p:cNvPr id="92" name="直接箭头连接符 91"/>
          <p:cNvCxnSpPr/>
          <p:nvPr/>
        </p:nvCxnSpPr>
        <p:spPr>
          <a:xfrm>
            <a:off x="8709660" y="487807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8765540" y="4180205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90</a:t>
            </a:r>
            <a:endParaRPr lang="en-US" altLang="zh-CN" sz="1200"/>
          </a:p>
        </p:txBody>
      </p:sp>
      <p:sp>
        <p:nvSpPr>
          <p:cNvPr id="94" name="文本框 93"/>
          <p:cNvSpPr txBox="1"/>
          <p:nvPr/>
        </p:nvSpPr>
        <p:spPr>
          <a:xfrm>
            <a:off x="8709660" y="452882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180</a:t>
            </a:r>
            <a:endParaRPr lang="en-US" altLang="zh-CN" sz="1200"/>
          </a:p>
        </p:txBody>
      </p:sp>
      <p:cxnSp>
        <p:nvCxnSpPr>
          <p:cNvPr id="95" name="直接箭头连接符 94"/>
          <p:cNvCxnSpPr/>
          <p:nvPr/>
        </p:nvCxnSpPr>
        <p:spPr>
          <a:xfrm>
            <a:off x="6561455" y="5903595"/>
            <a:ext cx="941070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6" name="文本框 95"/>
          <p:cNvSpPr txBox="1"/>
          <p:nvPr/>
        </p:nvSpPr>
        <p:spPr>
          <a:xfrm>
            <a:off x="6561455" y="5414645"/>
            <a:ext cx="98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4phase</a:t>
            </a:r>
            <a:endParaRPr lang="en-US" altLang="zh-CN"/>
          </a:p>
        </p:txBody>
      </p:sp>
      <p:cxnSp>
        <p:nvCxnSpPr>
          <p:cNvPr id="97" name="直接箭头连接符 96"/>
          <p:cNvCxnSpPr/>
          <p:nvPr/>
        </p:nvCxnSpPr>
        <p:spPr>
          <a:xfrm>
            <a:off x="8709660" y="577151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8709660" y="611759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>
          <a:xfrm>
            <a:off x="8765540" y="5428615"/>
            <a:ext cx="7410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270</a:t>
            </a:r>
            <a:endParaRPr lang="en-US" altLang="zh-CN" sz="1200"/>
          </a:p>
        </p:txBody>
      </p:sp>
      <p:sp>
        <p:nvSpPr>
          <p:cNvPr id="100" name="文本框 99"/>
          <p:cNvSpPr txBox="1"/>
          <p:nvPr/>
        </p:nvSpPr>
        <p:spPr>
          <a:xfrm>
            <a:off x="8776970" y="5824855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0</a:t>
            </a:r>
            <a:endParaRPr lang="en-US" altLang="zh-CN" sz="1200"/>
          </a:p>
        </p:txBody>
      </p:sp>
      <p:cxnSp>
        <p:nvCxnSpPr>
          <p:cNvPr id="101" name="直接箭头连接符 100"/>
          <p:cNvCxnSpPr/>
          <p:nvPr/>
        </p:nvCxnSpPr>
        <p:spPr>
          <a:xfrm>
            <a:off x="7183120" y="2030730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6391275" y="1819275"/>
            <a:ext cx="1215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2bit</a:t>
            </a:r>
            <a:r>
              <a:rPr lang="zh-CN" altLang="en-US" sz="1400"/>
              <a:t>选择</a:t>
            </a:r>
            <a:endParaRPr lang="zh-CN" altLang="en-US" sz="1400"/>
          </a:p>
        </p:txBody>
      </p:sp>
      <p:cxnSp>
        <p:nvCxnSpPr>
          <p:cNvPr id="103" name="肘形连接符 102"/>
          <p:cNvCxnSpPr/>
          <p:nvPr/>
        </p:nvCxnSpPr>
        <p:spPr>
          <a:xfrm>
            <a:off x="6825615" y="3154680"/>
            <a:ext cx="1026795" cy="7620"/>
          </a:xfrm>
          <a:prstGeom prst="bentConnector3">
            <a:avLst>
              <a:gd name="adj1" fmla="val 50031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>
            <a:off x="7125970" y="5042535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6334125" y="4831080"/>
            <a:ext cx="13347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2bit</a:t>
            </a:r>
            <a:r>
              <a:rPr lang="zh-CN" altLang="en-US" sz="1400"/>
              <a:t>选择</a:t>
            </a:r>
            <a:endParaRPr lang="en-US" sz="1400"/>
          </a:p>
        </p:txBody>
      </p:sp>
      <p:cxnSp>
        <p:nvCxnSpPr>
          <p:cNvPr id="107" name="肘形连接符 106"/>
          <p:cNvCxnSpPr/>
          <p:nvPr/>
        </p:nvCxnSpPr>
        <p:spPr>
          <a:xfrm>
            <a:off x="6581775" y="6172200"/>
            <a:ext cx="1213485" cy="3175"/>
          </a:xfrm>
          <a:prstGeom prst="bentConnector3">
            <a:avLst>
              <a:gd name="adj1" fmla="val 50026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9" name="矩形 108"/>
          <p:cNvSpPr/>
          <p:nvPr/>
        </p:nvSpPr>
        <p:spPr>
          <a:xfrm>
            <a:off x="10558145" y="116014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PI</a:t>
            </a:r>
            <a:endParaRPr lang="en-US" altLang="zh-CN">
              <a:sym typeface="+mn-ea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10558145" y="248031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PI</a:t>
            </a:r>
            <a:endParaRPr lang="en-US" altLang="zh-CN">
              <a:sym typeface="+mn-ea"/>
            </a:endParaRPr>
          </a:p>
        </p:txBody>
      </p:sp>
      <p:cxnSp>
        <p:nvCxnSpPr>
          <p:cNvPr id="111" name="直接箭头连接符 110"/>
          <p:cNvCxnSpPr/>
          <p:nvPr/>
        </p:nvCxnSpPr>
        <p:spPr>
          <a:xfrm>
            <a:off x="9989185" y="139509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>
            <a:off x="9989185" y="174117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3" name="文本框 112"/>
          <p:cNvSpPr txBox="1"/>
          <p:nvPr/>
        </p:nvSpPr>
        <p:spPr>
          <a:xfrm>
            <a:off x="10116185" y="1000760"/>
            <a:ext cx="329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0</a:t>
            </a:r>
            <a:endParaRPr lang="en-US" altLang="zh-CN" sz="1200"/>
          </a:p>
        </p:txBody>
      </p:sp>
      <p:sp>
        <p:nvSpPr>
          <p:cNvPr id="114" name="文本框 113"/>
          <p:cNvSpPr txBox="1"/>
          <p:nvPr/>
        </p:nvSpPr>
        <p:spPr>
          <a:xfrm>
            <a:off x="9948545" y="152019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90</a:t>
            </a:r>
            <a:endParaRPr lang="en-US" altLang="zh-CN" sz="1200"/>
          </a:p>
        </p:txBody>
      </p:sp>
      <p:cxnSp>
        <p:nvCxnSpPr>
          <p:cNvPr id="115" name="直接箭头连接符 114"/>
          <p:cNvCxnSpPr/>
          <p:nvPr/>
        </p:nvCxnSpPr>
        <p:spPr>
          <a:xfrm>
            <a:off x="9989185" y="263461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>
            <a:off x="9989185" y="298069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7" name="文本框 116"/>
          <p:cNvSpPr txBox="1"/>
          <p:nvPr/>
        </p:nvSpPr>
        <p:spPr>
          <a:xfrm>
            <a:off x="9989185" y="2292350"/>
            <a:ext cx="609600" cy="264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180</a:t>
            </a:r>
            <a:endParaRPr lang="en-US" altLang="zh-CN" sz="1200"/>
          </a:p>
        </p:txBody>
      </p:sp>
      <p:sp>
        <p:nvSpPr>
          <p:cNvPr id="118" name="文本框 117"/>
          <p:cNvSpPr txBox="1"/>
          <p:nvPr/>
        </p:nvSpPr>
        <p:spPr>
          <a:xfrm>
            <a:off x="10000615" y="2660650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270</a:t>
            </a:r>
            <a:endParaRPr lang="en-US" altLang="zh-CN" sz="1200"/>
          </a:p>
        </p:txBody>
      </p:sp>
      <p:cxnSp>
        <p:nvCxnSpPr>
          <p:cNvPr id="119" name="直接箭头连接符 118"/>
          <p:cNvCxnSpPr/>
          <p:nvPr/>
        </p:nvCxnSpPr>
        <p:spPr>
          <a:xfrm>
            <a:off x="9989185" y="469519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>
            <a:off x="9989185" y="504126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10045065" y="4343400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90</a:t>
            </a:r>
            <a:endParaRPr lang="en-US" altLang="zh-CN" sz="1200"/>
          </a:p>
        </p:txBody>
      </p:sp>
      <p:sp>
        <p:nvSpPr>
          <p:cNvPr id="122" name="文本框 121"/>
          <p:cNvSpPr txBox="1"/>
          <p:nvPr/>
        </p:nvSpPr>
        <p:spPr>
          <a:xfrm>
            <a:off x="9989185" y="4692015"/>
            <a:ext cx="609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180</a:t>
            </a:r>
            <a:endParaRPr lang="en-US" altLang="zh-CN" sz="1200"/>
          </a:p>
        </p:txBody>
      </p:sp>
      <p:cxnSp>
        <p:nvCxnSpPr>
          <p:cNvPr id="123" name="直接箭头连接符 122"/>
          <p:cNvCxnSpPr/>
          <p:nvPr/>
        </p:nvCxnSpPr>
        <p:spPr>
          <a:xfrm>
            <a:off x="9989185" y="593471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" name="直接箭头连接符 123"/>
          <p:cNvCxnSpPr/>
          <p:nvPr/>
        </p:nvCxnSpPr>
        <p:spPr>
          <a:xfrm>
            <a:off x="9989185" y="628078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5" name="文本框 124"/>
          <p:cNvSpPr txBox="1"/>
          <p:nvPr/>
        </p:nvSpPr>
        <p:spPr>
          <a:xfrm>
            <a:off x="10045065" y="5591810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270</a:t>
            </a:r>
            <a:endParaRPr lang="en-US" altLang="zh-CN" sz="1200"/>
          </a:p>
        </p:txBody>
      </p:sp>
      <p:sp>
        <p:nvSpPr>
          <p:cNvPr id="126" name="文本框 125"/>
          <p:cNvSpPr txBox="1"/>
          <p:nvPr/>
        </p:nvSpPr>
        <p:spPr>
          <a:xfrm>
            <a:off x="10045065" y="5946140"/>
            <a:ext cx="4940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0</a:t>
            </a:r>
            <a:endParaRPr lang="en-US" altLang="zh-CN" sz="1200"/>
          </a:p>
        </p:txBody>
      </p:sp>
      <p:sp>
        <p:nvSpPr>
          <p:cNvPr id="127" name="矩形 126"/>
          <p:cNvSpPr/>
          <p:nvPr/>
        </p:nvSpPr>
        <p:spPr>
          <a:xfrm>
            <a:off x="10558145" y="439102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PI</a:t>
            </a:r>
            <a:endParaRPr lang="en-US" altLang="zh-CN"/>
          </a:p>
        </p:txBody>
      </p:sp>
      <p:sp>
        <p:nvSpPr>
          <p:cNvPr id="128" name="矩形 127"/>
          <p:cNvSpPr/>
          <p:nvPr/>
        </p:nvSpPr>
        <p:spPr>
          <a:xfrm>
            <a:off x="10598785" y="559181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PI</a:t>
            </a:r>
            <a:endParaRPr lang="en-US" altLang="zh-CN"/>
          </a:p>
        </p:txBody>
      </p:sp>
      <p:cxnSp>
        <p:nvCxnSpPr>
          <p:cNvPr id="129" name="直接箭头连接符 128"/>
          <p:cNvCxnSpPr/>
          <p:nvPr/>
        </p:nvCxnSpPr>
        <p:spPr>
          <a:xfrm>
            <a:off x="11472545" y="1635125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0" name="直接箭头连接符 129"/>
          <p:cNvCxnSpPr/>
          <p:nvPr/>
        </p:nvCxnSpPr>
        <p:spPr>
          <a:xfrm>
            <a:off x="11513185" y="293624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>
            <a:off x="11472545" y="483108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11472545" y="594614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/>
          <p:nvPr/>
        </p:nvCxnSpPr>
        <p:spPr>
          <a:xfrm>
            <a:off x="9911080" y="1943100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4" name="肘形连接符 133"/>
          <p:cNvCxnSpPr/>
          <p:nvPr/>
        </p:nvCxnSpPr>
        <p:spPr>
          <a:xfrm flipV="1">
            <a:off x="10066655" y="3074670"/>
            <a:ext cx="513715" cy="8890"/>
          </a:xfrm>
          <a:prstGeom prst="bentConnector3">
            <a:avLst>
              <a:gd name="adj1" fmla="val 50062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5" name="文本框 134"/>
          <p:cNvSpPr txBox="1"/>
          <p:nvPr/>
        </p:nvSpPr>
        <p:spPr>
          <a:xfrm>
            <a:off x="9674860" y="2016125"/>
            <a:ext cx="628015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3bit</a:t>
            </a:r>
            <a:r>
              <a:rPr lang="zh-CN" altLang="en-US" sz="900"/>
              <a:t>插值</a:t>
            </a:r>
            <a:endParaRPr lang="zh-CN" altLang="en-US" sz="900"/>
          </a:p>
        </p:txBody>
      </p:sp>
      <p:cxnSp>
        <p:nvCxnSpPr>
          <p:cNvPr id="136" name="直接箭头连接符 135"/>
          <p:cNvCxnSpPr/>
          <p:nvPr/>
        </p:nvCxnSpPr>
        <p:spPr>
          <a:xfrm>
            <a:off x="9888855" y="5247005"/>
            <a:ext cx="628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7" name="肘形连接符 136"/>
          <p:cNvCxnSpPr/>
          <p:nvPr/>
        </p:nvCxnSpPr>
        <p:spPr>
          <a:xfrm flipV="1">
            <a:off x="9690735" y="6378575"/>
            <a:ext cx="867410" cy="6985"/>
          </a:xfrm>
          <a:prstGeom prst="bentConnector3">
            <a:avLst>
              <a:gd name="adj1" fmla="val 50073"/>
            </a:avLst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8" name="文本框 137"/>
          <p:cNvSpPr txBox="1"/>
          <p:nvPr/>
        </p:nvSpPr>
        <p:spPr>
          <a:xfrm>
            <a:off x="9386570" y="5090795"/>
            <a:ext cx="628015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3bit</a:t>
            </a:r>
            <a:r>
              <a:rPr lang="zh-CN" altLang="en-US" sz="900"/>
              <a:t>插值</a:t>
            </a:r>
            <a:endParaRPr lang="zh-CN" altLang="en-US" sz="900"/>
          </a:p>
        </p:txBody>
      </p:sp>
      <p:sp>
        <p:nvSpPr>
          <p:cNvPr id="139" name="文本框 138"/>
          <p:cNvSpPr txBox="1"/>
          <p:nvPr/>
        </p:nvSpPr>
        <p:spPr>
          <a:xfrm>
            <a:off x="6396990" y="3162300"/>
            <a:ext cx="1215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2bit</a:t>
            </a:r>
            <a:r>
              <a:rPr lang="zh-CN" altLang="en-US" sz="1400"/>
              <a:t>选择</a:t>
            </a:r>
            <a:endParaRPr lang="zh-CN" altLang="en-US" sz="1400"/>
          </a:p>
        </p:txBody>
      </p:sp>
      <p:sp>
        <p:nvSpPr>
          <p:cNvPr id="140" name="文本框 139"/>
          <p:cNvSpPr txBox="1"/>
          <p:nvPr/>
        </p:nvSpPr>
        <p:spPr>
          <a:xfrm>
            <a:off x="6334125" y="6067425"/>
            <a:ext cx="13347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2bit</a:t>
            </a:r>
            <a:r>
              <a:rPr lang="zh-CN" altLang="en-US" sz="1400"/>
              <a:t>选择</a:t>
            </a:r>
            <a:endParaRPr lang="en-US" sz="1400"/>
          </a:p>
        </p:txBody>
      </p:sp>
      <p:sp>
        <p:nvSpPr>
          <p:cNvPr id="141" name="文本框 140"/>
          <p:cNvSpPr txBox="1"/>
          <p:nvPr/>
        </p:nvSpPr>
        <p:spPr>
          <a:xfrm>
            <a:off x="9674860" y="3074670"/>
            <a:ext cx="628015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3bit</a:t>
            </a:r>
            <a:r>
              <a:rPr lang="zh-CN" altLang="en-US" sz="900"/>
              <a:t>插值</a:t>
            </a:r>
            <a:endParaRPr lang="zh-CN" altLang="en-US" sz="900"/>
          </a:p>
        </p:txBody>
      </p:sp>
      <p:sp>
        <p:nvSpPr>
          <p:cNvPr id="142" name="文本框 141"/>
          <p:cNvSpPr txBox="1"/>
          <p:nvPr/>
        </p:nvSpPr>
        <p:spPr>
          <a:xfrm>
            <a:off x="9518015" y="6374130"/>
            <a:ext cx="628015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3bit</a:t>
            </a:r>
            <a:r>
              <a:rPr lang="zh-CN" altLang="en-US" sz="900"/>
              <a:t>插值</a:t>
            </a:r>
            <a:endParaRPr lang="zh-CN" altLang="en-US" sz="9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葛良晨</a:t>
            </a:r>
            <a:r>
              <a:rPr lang="en-US" altLang="zh-CN"/>
              <a:t> 260806 </a:t>
            </a:r>
            <a:r>
              <a:rPr lang="zh-CN" altLang="en-US"/>
              <a:t>行为级</a:t>
            </a:r>
            <a:r>
              <a:rPr lang="zh-CN" altLang="en-US"/>
              <a:t>建模</a:t>
            </a:r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466090" y="1796415"/>
            <a:ext cx="1645285" cy="3714750"/>
            <a:chOff x="1805" y="1946"/>
            <a:chExt cx="2591" cy="5850"/>
          </a:xfrm>
        </p:grpSpPr>
        <p:sp>
          <p:nvSpPr>
            <p:cNvPr id="7" name="矩形 6"/>
            <p:cNvSpPr/>
            <p:nvPr/>
          </p:nvSpPr>
          <p:spPr>
            <a:xfrm>
              <a:off x="1805" y="1946"/>
              <a:ext cx="1678" cy="585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多相位</a:t>
              </a:r>
              <a:r>
                <a:rPr lang="zh-CN" altLang="en-US"/>
                <a:t>时钟生成</a:t>
              </a:r>
              <a:endParaRPr lang="zh-CN" altLang="en-US"/>
            </a:p>
          </p:txBody>
        </p:sp>
        <p:cxnSp>
          <p:nvCxnSpPr>
            <p:cNvPr id="8" name="直接箭头连接符 7"/>
            <p:cNvCxnSpPr/>
            <p:nvPr/>
          </p:nvCxnSpPr>
          <p:spPr>
            <a:xfrm>
              <a:off x="3500" y="2297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>
              <a:off x="3500" y="3013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>
              <a:off x="3500" y="3729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3500" y="4445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3500" y="5161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>
              <a:off x="3500" y="5877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>
              <a:off x="3500" y="6593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3500" y="7309"/>
              <a:ext cx="89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8" name="矩形 17"/>
          <p:cNvSpPr/>
          <p:nvPr/>
        </p:nvSpPr>
        <p:spPr>
          <a:xfrm>
            <a:off x="3198495" y="181864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r>
              <a:rPr lang="en-US" altLang="zh-CN"/>
              <a:t>PI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3325495" y="194564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r>
              <a:rPr lang="en-US" altLang="zh-CN"/>
              <a:t>PI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3452495" y="207264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r>
              <a:rPr lang="en-US" altLang="zh-CN"/>
              <a:t>PI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3579495" y="224282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r>
              <a:rPr lang="en-US" altLang="zh-CN"/>
              <a:t>PI</a:t>
            </a:r>
            <a:endParaRPr lang="en-US" altLang="zh-CN"/>
          </a:p>
        </p:txBody>
      </p:sp>
      <p:sp>
        <p:nvSpPr>
          <p:cNvPr id="22" name="右箭头 21"/>
          <p:cNvSpPr/>
          <p:nvPr/>
        </p:nvSpPr>
        <p:spPr>
          <a:xfrm>
            <a:off x="2558415" y="2199640"/>
            <a:ext cx="446405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327650" y="2828290"/>
            <a:ext cx="712470" cy="1109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MUX</a:t>
            </a:r>
            <a:endParaRPr lang="en-US" altLang="zh-CN"/>
          </a:p>
        </p:txBody>
      </p:sp>
      <p:sp>
        <p:nvSpPr>
          <p:cNvPr id="24" name="右箭头 23"/>
          <p:cNvSpPr/>
          <p:nvPr/>
        </p:nvSpPr>
        <p:spPr>
          <a:xfrm rot="2580000">
            <a:off x="4687570" y="2634615"/>
            <a:ext cx="446405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 rot="21060000">
            <a:off x="3077210" y="3894455"/>
            <a:ext cx="1437005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3198495" y="4486275"/>
            <a:ext cx="13620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8</a:t>
            </a:r>
            <a:r>
              <a:rPr lang="zh-CN" altLang="en-US" sz="1400"/>
              <a:t>相位时钟</a:t>
            </a:r>
            <a:r>
              <a:rPr lang="en-US" altLang="zh-CN" sz="1400"/>
              <a:t>-0</a:t>
            </a:r>
            <a:r>
              <a:rPr lang="zh-CN" altLang="en-US" sz="1400"/>
              <a:t>，</a:t>
            </a:r>
            <a:r>
              <a:rPr lang="en-US" altLang="zh-CN" sz="1400"/>
              <a:t>2</a:t>
            </a:r>
            <a:r>
              <a:rPr lang="zh-CN" altLang="en-US" sz="1400"/>
              <a:t>，</a:t>
            </a:r>
            <a:r>
              <a:rPr lang="en-US" altLang="zh-CN" sz="1400"/>
              <a:t>4</a:t>
            </a:r>
            <a:r>
              <a:rPr lang="zh-CN" altLang="en-US" sz="1400"/>
              <a:t>，</a:t>
            </a:r>
            <a:r>
              <a:rPr lang="en-US" altLang="zh-CN" sz="1400"/>
              <a:t>6</a:t>
            </a:r>
            <a:r>
              <a:rPr lang="zh-CN" altLang="en-US" sz="1400"/>
              <a:t>路</a:t>
            </a:r>
            <a:r>
              <a:rPr lang="zh-CN" altLang="en-US" sz="1400"/>
              <a:t>硬连接</a:t>
            </a:r>
            <a:endParaRPr lang="zh-CN" altLang="en-US" sz="1400"/>
          </a:p>
        </p:txBody>
      </p:sp>
      <p:sp>
        <p:nvSpPr>
          <p:cNvPr id="27" name="文本框 26"/>
          <p:cNvSpPr txBox="1"/>
          <p:nvPr/>
        </p:nvSpPr>
        <p:spPr>
          <a:xfrm>
            <a:off x="2290445" y="1945640"/>
            <a:ext cx="13620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8</a:t>
            </a:r>
            <a:r>
              <a:rPr lang="zh-CN" altLang="en-US" sz="1400"/>
              <a:t>相位时钟</a:t>
            </a:r>
            <a:endParaRPr lang="zh-CN" altLang="en-US" sz="1400"/>
          </a:p>
        </p:txBody>
      </p:sp>
      <p:sp>
        <p:nvSpPr>
          <p:cNvPr id="28" name="文本框 27"/>
          <p:cNvSpPr txBox="1"/>
          <p:nvPr/>
        </p:nvSpPr>
        <p:spPr>
          <a:xfrm>
            <a:off x="4914900" y="2367915"/>
            <a:ext cx="13620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4</a:t>
            </a:r>
            <a:r>
              <a:rPr lang="zh-CN" altLang="en-US" sz="1400"/>
              <a:t>相位时钟</a:t>
            </a:r>
            <a:endParaRPr lang="zh-CN" altLang="en-US" sz="1400"/>
          </a:p>
        </p:txBody>
      </p:sp>
      <p:sp>
        <p:nvSpPr>
          <p:cNvPr id="30" name="矩形 29"/>
          <p:cNvSpPr/>
          <p:nvPr/>
        </p:nvSpPr>
        <p:spPr>
          <a:xfrm>
            <a:off x="8351520" y="2555875"/>
            <a:ext cx="712470" cy="683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DTC</a:t>
            </a:r>
            <a:endParaRPr lang="en-US" altLang="zh-CN"/>
          </a:p>
        </p:txBody>
      </p:sp>
      <p:sp>
        <p:nvSpPr>
          <p:cNvPr id="31" name="矩形 30"/>
          <p:cNvSpPr/>
          <p:nvPr/>
        </p:nvSpPr>
        <p:spPr>
          <a:xfrm>
            <a:off x="8351520" y="1569720"/>
            <a:ext cx="712470" cy="683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DTC</a:t>
            </a:r>
            <a:endParaRPr lang="en-US" altLang="zh-CN"/>
          </a:p>
        </p:txBody>
      </p:sp>
      <p:sp>
        <p:nvSpPr>
          <p:cNvPr id="32" name="矩形 31"/>
          <p:cNvSpPr/>
          <p:nvPr/>
        </p:nvSpPr>
        <p:spPr>
          <a:xfrm>
            <a:off x="7572375" y="448627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5PI</a:t>
            </a:r>
            <a:endParaRPr lang="en-US" altLang="zh-CN"/>
          </a:p>
        </p:txBody>
      </p:sp>
      <p:sp>
        <p:nvSpPr>
          <p:cNvPr id="33" name="矩形 32"/>
          <p:cNvSpPr/>
          <p:nvPr/>
        </p:nvSpPr>
        <p:spPr>
          <a:xfrm>
            <a:off x="7699375" y="461327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5PI</a:t>
            </a:r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7826375" y="474027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5PI</a:t>
            </a:r>
            <a:endParaRPr lang="en-US" altLang="zh-CN"/>
          </a:p>
        </p:txBody>
      </p:sp>
      <p:sp>
        <p:nvSpPr>
          <p:cNvPr id="35" name="矩形 34"/>
          <p:cNvSpPr/>
          <p:nvPr/>
        </p:nvSpPr>
        <p:spPr>
          <a:xfrm>
            <a:off x="7953375" y="4867275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5PI</a:t>
            </a:r>
            <a:endParaRPr lang="en-US" altLang="zh-CN"/>
          </a:p>
        </p:txBody>
      </p:sp>
      <p:sp>
        <p:nvSpPr>
          <p:cNvPr id="36" name="矩形 35"/>
          <p:cNvSpPr/>
          <p:nvPr/>
        </p:nvSpPr>
        <p:spPr>
          <a:xfrm>
            <a:off x="9568180" y="437007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16</a:t>
            </a:r>
            <a:r>
              <a:rPr lang="en-US" altLang="zh-CN"/>
              <a:t>Div</a:t>
            </a:r>
            <a:endParaRPr lang="en-US" altLang="zh-CN"/>
          </a:p>
        </p:txBody>
      </p:sp>
      <p:sp>
        <p:nvSpPr>
          <p:cNvPr id="37" name="文本框 36"/>
          <p:cNvSpPr txBox="1"/>
          <p:nvPr/>
        </p:nvSpPr>
        <p:spPr>
          <a:xfrm>
            <a:off x="6057265" y="3261360"/>
            <a:ext cx="13620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4</a:t>
            </a:r>
            <a:r>
              <a:rPr lang="zh-CN" altLang="en-US" sz="1400"/>
              <a:t>相位时钟</a:t>
            </a:r>
            <a:endParaRPr lang="zh-CN" altLang="en-US" sz="1400"/>
          </a:p>
        </p:txBody>
      </p:sp>
      <p:sp>
        <p:nvSpPr>
          <p:cNvPr id="38" name="右箭头 37"/>
          <p:cNvSpPr/>
          <p:nvPr/>
        </p:nvSpPr>
        <p:spPr>
          <a:xfrm>
            <a:off x="9568180" y="2103120"/>
            <a:ext cx="446405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554470" y="1796415"/>
            <a:ext cx="19869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</a:t>
            </a:r>
            <a:r>
              <a:rPr lang="zh-CN" altLang="en-US" sz="1400"/>
              <a:t>相位时钟</a:t>
            </a:r>
            <a:r>
              <a:rPr lang="en-US" altLang="zh-CN" sz="1400"/>
              <a:t>0，2</a:t>
            </a:r>
            <a:endParaRPr lang="en-US" altLang="zh-CN" sz="1400"/>
          </a:p>
        </p:txBody>
      </p:sp>
      <p:sp>
        <p:nvSpPr>
          <p:cNvPr id="40" name="文本框 39"/>
          <p:cNvSpPr txBox="1"/>
          <p:nvPr/>
        </p:nvSpPr>
        <p:spPr>
          <a:xfrm>
            <a:off x="6732270" y="2705100"/>
            <a:ext cx="1486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</a:t>
            </a:r>
            <a:r>
              <a:rPr lang="zh-CN" altLang="en-US" sz="1400"/>
              <a:t>相位时钟</a:t>
            </a:r>
            <a:r>
              <a:rPr lang="en-US" altLang="zh-CN" sz="1400"/>
              <a:t>1，3</a:t>
            </a:r>
            <a:endParaRPr lang="en-US" altLang="zh-CN" sz="1400"/>
          </a:p>
        </p:txBody>
      </p:sp>
      <p:sp>
        <p:nvSpPr>
          <p:cNvPr id="41" name="右箭头 40"/>
          <p:cNvSpPr/>
          <p:nvPr/>
        </p:nvSpPr>
        <p:spPr>
          <a:xfrm rot="20040000">
            <a:off x="6087745" y="2362200"/>
            <a:ext cx="1437005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0279380" y="2103120"/>
            <a:ext cx="1532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16G，</a:t>
            </a:r>
            <a:r>
              <a:rPr lang="en-US" altLang="zh-CN"/>
              <a:t>ADC</a:t>
            </a:r>
            <a:endParaRPr lang="en-US" altLang="zh-CN"/>
          </a:p>
        </p:txBody>
      </p:sp>
      <p:sp>
        <p:nvSpPr>
          <p:cNvPr id="43" name="右箭头 42"/>
          <p:cNvSpPr/>
          <p:nvPr/>
        </p:nvSpPr>
        <p:spPr>
          <a:xfrm rot="1620000">
            <a:off x="6062980" y="4144645"/>
            <a:ext cx="1437005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6125210" y="5226050"/>
            <a:ext cx="13620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4</a:t>
            </a:r>
            <a:r>
              <a:rPr lang="zh-CN" altLang="en-US" sz="1400"/>
              <a:t>相位时钟</a:t>
            </a:r>
            <a:endParaRPr lang="zh-CN" altLang="en-US" sz="1400"/>
          </a:p>
        </p:txBody>
      </p:sp>
      <p:sp>
        <p:nvSpPr>
          <p:cNvPr id="45" name="文本框 44"/>
          <p:cNvSpPr txBox="1"/>
          <p:nvPr/>
        </p:nvSpPr>
        <p:spPr>
          <a:xfrm>
            <a:off x="496570" y="3625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时钟生成</a:t>
            </a:r>
            <a:endParaRPr lang="en-US" altLang="zh-CN"/>
          </a:p>
        </p:txBody>
      </p:sp>
      <p:sp>
        <p:nvSpPr>
          <p:cNvPr id="46" name="矩形 45"/>
          <p:cNvSpPr/>
          <p:nvPr/>
        </p:nvSpPr>
        <p:spPr>
          <a:xfrm>
            <a:off x="9695180" y="449707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16</a:t>
            </a:r>
            <a:r>
              <a:rPr lang="en-US" altLang="zh-CN"/>
              <a:t>Div</a:t>
            </a:r>
            <a:endParaRPr lang="en-US" altLang="zh-CN"/>
          </a:p>
        </p:txBody>
      </p:sp>
      <p:sp>
        <p:nvSpPr>
          <p:cNvPr id="47" name="矩形 46"/>
          <p:cNvSpPr/>
          <p:nvPr/>
        </p:nvSpPr>
        <p:spPr>
          <a:xfrm>
            <a:off x="9822180" y="462407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16</a:t>
            </a:r>
            <a:r>
              <a:rPr lang="en-US" altLang="zh-CN"/>
              <a:t>Div</a:t>
            </a:r>
            <a:endParaRPr lang="en-US" altLang="zh-CN"/>
          </a:p>
        </p:txBody>
      </p:sp>
      <p:sp>
        <p:nvSpPr>
          <p:cNvPr id="48" name="矩形 47"/>
          <p:cNvSpPr/>
          <p:nvPr/>
        </p:nvSpPr>
        <p:spPr>
          <a:xfrm>
            <a:off x="9949180" y="4751070"/>
            <a:ext cx="914400" cy="855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16</a:t>
            </a:r>
            <a:r>
              <a:rPr lang="en-US" altLang="zh-CN"/>
              <a:t>Div</a:t>
            </a:r>
            <a:endParaRPr lang="en-US" altLang="zh-CN"/>
          </a:p>
        </p:txBody>
      </p:sp>
      <p:sp>
        <p:nvSpPr>
          <p:cNvPr id="50" name="右箭头 49"/>
          <p:cNvSpPr/>
          <p:nvPr/>
        </p:nvSpPr>
        <p:spPr>
          <a:xfrm>
            <a:off x="11125200" y="4678045"/>
            <a:ext cx="446405" cy="548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7" name="直接箭头连接符 56"/>
          <p:cNvCxnSpPr/>
          <p:nvPr/>
        </p:nvCxnSpPr>
        <p:spPr>
          <a:xfrm>
            <a:off x="8745220" y="484251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8872220" y="496951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8930640" y="509651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8999220" y="5226050"/>
            <a:ext cx="568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11125200" y="5205095"/>
            <a:ext cx="13620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64</a:t>
            </a:r>
            <a:r>
              <a:rPr lang="zh-CN" altLang="en-US" sz="1400"/>
              <a:t>路</a:t>
            </a:r>
            <a:r>
              <a:rPr lang="zh-CN" altLang="en-US" sz="1400"/>
              <a:t>脉冲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葛良晨</a:t>
            </a:r>
            <a:r>
              <a:rPr lang="en-US" altLang="zh-CN"/>
              <a:t> 260806 </a:t>
            </a:r>
            <a:r>
              <a:rPr lang="zh-CN" altLang="en-US"/>
              <a:t>行为级</a:t>
            </a:r>
            <a:r>
              <a:rPr lang="zh-CN" altLang="en-US"/>
              <a:t>建模</a:t>
            </a:r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496570" y="362585"/>
            <a:ext cx="4495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PLL---</a:t>
            </a:r>
            <a:r>
              <a:rPr lang="zh-CN" altLang="en-US"/>
              <a:t>较之前简化设计</a:t>
            </a:r>
            <a:r>
              <a:rPr lang="en-US" altLang="zh-CN"/>
              <a:t>，</a:t>
            </a:r>
            <a:r>
              <a:rPr lang="zh-CN" altLang="en-US"/>
              <a:t>保留关键</a:t>
            </a:r>
            <a:r>
              <a:rPr lang="zh-CN" altLang="en-US"/>
              <a:t>行为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94640" y="929957"/>
            <a:ext cx="5080000" cy="3371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ts val="1600"/>
              </a:spcAft>
            </a:pPr>
            <a:r>
              <a:rPr lang="zh-CN" altLang="en-US" sz="1600" b="0" i="0">
                <a:solidFill>
                  <a:srgbClr val="E6EDF3"/>
                </a:solidFill>
                <a:latin typeface="-apple-system"/>
                <a:ea typeface="-apple-system"/>
              </a:rPr>
              <a:t>方波输出（</a:t>
            </a:r>
            <a:r>
              <a:rPr lang="en-US" altLang="zh-CN" sz="1600" b="0" i="0">
                <a:solidFill>
                  <a:srgbClr val="E6EDF3"/>
                </a:solidFill>
                <a:latin typeface="-apple-system"/>
                <a:ea typeface="-apple-system"/>
              </a:rPr>
              <a:t>4 </a:t>
            </a:r>
            <a:r>
              <a:rPr lang="zh-CN" altLang="en-US" sz="1600" b="0" i="0">
                <a:solidFill>
                  <a:srgbClr val="E6EDF3"/>
                </a:solidFill>
                <a:latin typeface="-apple-system"/>
                <a:ea typeface="-apple-system"/>
              </a:rPr>
              <a:t>个）</a:t>
            </a:r>
            <a:endParaRPr lang="zh-CN" altLang="en-US" sz="1600" b="0" i="0">
              <a:solidFill>
                <a:srgbClr val="E6EDF3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294640" y="1267143"/>
          <a:ext cx="5052695" cy="1346200"/>
        </p:xfrm>
        <a:graphic>
          <a:graphicData uri="http://schemas.openxmlformats.org/drawingml/2006/table">
            <a:tbl>
              <a:tblPr/>
              <a:tblGrid>
                <a:gridCol w="1908810"/>
                <a:gridCol w="3143885"/>
              </a:tblGrid>
              <a:tr h="0">
                <a:tc>
                  <a:txBody>
                    <a:bodyPr/>
                    <a:p>
                      <a:r>
                        <a:rPr lang="zh-CN" altLang="en-US" sz="1100"/>
                        <a:t>引脚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功能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rgbClr val="7D8590"/>
                          </a:solidFill>
                          <a:latin typeface="SF Mono"/>
                          <a:ea typeface="SF Mono"/>
                        </a:rPr>
                        <a:t>mplla_clk_left/</a:t>
                      </a:r>
                      <a:r>
                        <a:rPr lang="en-US" altLang="zh-CN" sz="1100">
                          <a:solidFill>
                            <a:srgbClr val="7D8590"/>
                          </a:solidFill>
                          <a:latin typeface="SF Mono"/>
                          <a:ea typeface="SF Mono"/>
                        </a:rPr>
                        <a:t>right</a:t>
                      </a:r>
                      <a:endParaRPr lang="en-US" altLang="zh-CN" sz="1100">
                        <a:solidFill>
                          <a:srgbClr val="7D8590"/>
                        </a:solidFill>
                        <a:latin typeface="SF Mono"/>
                        <a:ea typeface="SF Mono"/>
                      </a:endParaRPr>
                    </a:p>
                  </a:txBody>
                  <a:tcPr marL="76517" marR="76517" marT="51117" marB="511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10GHz </a:t>
                      </a:r>
                      <a:r>
                        <a:rPr lang="zh-CN" altLang="en-US" sz="1100"/>
                        <a:t>方波 正端（给 </a:t>
                      </a:r>
                      <a:r>
                        <a:rPr lang="en-US" altLang="zh-CN" sz="1100"/>
                        <a:t>TX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rgbClr val="7D8590"/>
                          </a:solidFill>
                          <a:latin typeface="SF Mono"/>
                          <a:ea typeface="SF Mono"/>
                        </a:rPr>
                        <a:t>mplla_ana_fb_clk</a:t>
                      </a:r>
                      <a:endParaRPr lang="en-US" altLang="zh-CN" sz="1100">
                        <a:solidFill>
                          <a:srgbClr val="7D8590"/>
                        </a:solidFill>
                        <a:latin typeface="SF Mono"/>
                        <a:ea typeface="SF Mono"/>
                      </a:endParaRPr>
                    </a:p>
                  </a:txBody>
                  <a:tcPr marL="76517" marR="76517" marT="51117" marB="511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10GHz/80 = 125MHz </a:t>
                      </a:r>
                      <a:r>
                        <a:rPr lang="zh-CN" altLang="en-US" sz="1100"/>
                        <a:t>方波（内部使用）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rgbClr val="7D8590"/>
                          </a:solidFill>
                          <a:latin typeface="SF Mono"/>
                          <a:ea typeface="SF Mono"/>
                        </a:rPr>
                        <a:t>mplla_ana_div_clk</a:t>
                      </a:r>
                      <a:endParaRPr lang="en-US" altLang="zh-CN" sz="1100">
                        <a:solidFill>
                          <a:srgbClr val="7D8590"/>
                        </a:solidFill>
                        <a:latin typeface="SF Mono"/>
                        <a:ea typeface="SF Mono"/>
                      </a:endParaRPr>
                    </a:p>
                  </a:txBody>
                  <a:tcPr marL="76517" marR="76517" marT="51117" marB="511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10GHz/20 = 500MHz </a:t>
                      </a:r>
                      <a:r>
                        <a:rPr lang="zh-CN" altLang="en-US" sz="1100"/>
                        <a:t>方波（给 </a:t>
                      </a:r>
                      <a:r>
                        <a:rPr lang="en-US" altLang="zh-CN" sz="1100"/>
                        <a:t>204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94640" y="2530475"/>
            <a:ext cx="5125085" cy="3371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Autofit/>
          </a:bodyPr>
          <a:p>
            <a:pPr marL="0" indent="0">
              <a:spcBef>
                <a:spcPct val="0"/>
              </a:spcBef>
              <a:spcAft>
                <a:spcPts val="1600"/>
              </a:spcAft>
            </a:pPr>
            <a:r>
              <a:rPr lang="zh-CN" altLang="en-US" sz="1600" b="0" i="0">
                <a:solidFill>
                  <a:srgbClr val="E6EDF3"/>
                </a:solidFill>
                <a:latin typeface="-apple-system"/>
                <a:ea typeface="-apple-system"/>
              </a:rPr>
              <a:t>控制输入（</a:t>
            </a:r>
            <a:r>
              <a:rPr lang="en-US" altLang="zh-CN" sz="1600" b="0" i="0">
                <a:solidFill>
                  <a:srgbClr val="E6EDF3"/>
                </a:solidFill>
                <a:latin typeface="-apple-system"/>
                <a:ea typeface="-apple-system"/>
              </a:rPr>
              <a:t>2 </a:t>
            </a:r>
            <a:r>
              <a:rPr lang="zh-CN" altLang="en-US" sz="1600" b="0" i="0">
                <a:solidFill>
                  <a:srgbClr val="E6EDF3"/>
                </a:solidFill>
                <a:latin typeface="-apple-system"/>
                <a:ea typeface="-apple-system"/>
              </a:rPr>
              <a:t>个）</a:t>
            </a:r>
            <a:endParaRPr lang="zh-CN" altLang="en-US" sz="1600" b="0" i="0">
              <a:solidFill>
                <a:srgbClr val="E6EDF3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294640" y="2867343"/>
          <a:ext cx="5124450" cy="807720"/>
        </p:xfrm>
        <a:graphic>
          <a:graphicData uri="http://schemas.openxmlformats.org/drawingml/2006/table">
            <a:tbl>
              <a:tblPr/>
              <a:tblGrid>
                <a:gridCol w="1939925"/>
                <a:gridCol w="3184525"/>
              </a:tblGrid>
              <a:tr h="0">
                <a:tc>
                  <a:txBody>
                    <a:bodyPr/>
                    <a:p>
                      <a:r>
                        <a:rPr lang="zh-CN" altLang="en-US" sz="1100"/>
                        <a:t>引脚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功能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rgbClr val="7D8590"/>
                          </a:solidFill>
                          <a:latin typeface="SF Mono"/>
                          <a:ea typeface="SF Mono"/>
                        </a:rPr>
                        <a:t>mplla_coarse_tune[7:0]</a:t>
                      </a:r>
                      <a:endParaRPr lang="en-US" altLang="zh-CN" sz="1100">
                        <a:solidFill>
                          <a:srgbClr val="7D8590"/>
                        </a:solidFill>
                        <a:latin typeface="SF Mono"/>
                        <a:ea typeface="SF Mono"/>
                      </a:endParaRPr>
                    </a:p>
                  </a:txBody>
                  <a:tcPr marL="76517" marR="76517" marT="51117" marB="511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控制 </a:t>
                      </a:r>
                      <a:r>
                        <a:rPr lang="en-US" altLang="zh-CN" sz="1100"/>
                        <a:t>10GHz </a:t>
                      </a:r>
                      <a:r>
                        <a:rPr lang="zh-CN" altLang="en-US" sz="1100"/>
                        <a:t>输出频率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rgbClr val="7D8590"/>
                          </a:solidFill>
                          <a:latin typeface="SF Mono"/>
                          <a:ea typeface="SF Mono"/>
                        </a:rPr>
                        <a:t>mplla_div_multiplier[6:0]</a:t>
                      </a:r>
                      <a:endParaRPr lang="en-US" altLang="zh-CN" sz="1100">
                        <a:solidFill>
                          <a:srgbClr val="7D8590"/>
                        </a:solidFill>
                        <a:latin typeface="SF Mono"/>
                        <a:ea typeface="SF Mono"/>
                      </a:endParaRPr>
                    </a:p>
                  </a:txBody>
                  <a:tcPr marL="76517" marR="76517" marT="51117" marB="511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控制 </a:t>
                      </a:r>
                      <a:r>
                        <a:rPr lang="en-US" altLang="zh-CN" sz="1100"/>
                        <a:t>div_clk </a:t>
                      </a:r>
                      <a:r>
                        <a:rPr lang="zh-CN" altLang="en-US" sz="1100"/>
                        <a:t>分频比</a:t>
                      </a:r>
                      <a:endParaRPr lang="zh-CN" altLang="en-US" sz="1100"/>
                    </a:p>
                  </a:txBody>
                  <a:tcPr marL="76517" marR="76517" marT="51117" marB="511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6358255" y="1267460"/>
            <a:ext cx="3559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《</a:t>
            </a:r>
            <a:r>
              <a:rPr lang="zh-CN" altLang="en-US"/>
              <a:t>控制字</a:t>
            </a:r>
            <a:r>
              <a:rPr lang="en-US" altLang="zh-CN"/>
              <a:t>-</a:t>
            </a:r>
            <a:r>
              <a:rPr lang="zh-CN" altLang="en-US"/>
              <a:t>频率</a:t>
            </a:r>
            <a:r>
              <a:rPr lang="en-US" altLang="zh-CN"/>
              <a:t>》</a:t>
            </a:r>
            <a:r>
              <a:rPr lang="zh-CN" altLang="en-US"/>
              <a:t>表给出控制关系</a:t>
            </a:r>
            <a:r>
              <a:rPr lang="en-US" altLang="zh-CN"/>
              <a:t>--</a:t>
            </a:r>
            <a:r>
              <a:rPr lang="zh-CN" altLang="en-US"/>
              <a:t>待定</a:t>
            </a:r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70" y="4494530"/>
            <a:ext cx="6064885" cy="20732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89230" y="3003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ADC</a:t>
            </a:r>
            <a:r>
              <a:rPr lang="zh-CN" altLang="en-US"/>
              <a:t>行为级</a:t>
            </a:r>
            <a:r>
              <a:rPr lang="zh-CN" altLang="en-US"/>
              <a:t>模型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3185" y="1168400"/>
            <a:ext cx="3625850" cy="13195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18770" y="1436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THA</a:t>
            </a:r>
            <a:endParaRPr lang="en-US" altLang="zh-CN"/>
          </a:p>
          <a:p>
            <a:pPr algn="ctr"/>
            <a:r>
              <a:rPr lang="en-US" altLang="zh-CN"/>
              <a:t>hjy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962785" y="1436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SAR </a:t>
            </a:r>
            <a:r>
              <a:rPr lang="en-US" altLang="zh-CN"/>
              <a:t>Core</a:t>
            </a:r>
            <a:endParaRPr lang="en-US" altLang="zh-CN"/>
          </a:p>
          <a:p>
            <a:pPr algn="ctr"/>
            <a:r>
              <a:rPr lang="en-US" altLang="zh-CN"/>
              <a:t>hzp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608965" y="647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ADC</a:t>
            </a:r>
            <a:endParaRPr lang="en-US" altLang="zh-CN"/>
          </a:p>
        </p:txBody>
      </p:sp>
      <p:sp>
        <p:nvSpPr>
          <p:cNvPr id="30" name="矩形 29"/>
          <p:cNvSpPr/>
          <p:nvPr/>
        </p:nvSpPr>
        <p:spPr>
          <a:xfrm>
            <a:off x="210185" y="1295400"/>
            <a:ext cx="3625850" cy="13195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445770" y="1563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THA</a:t>
            </a:r>
            <a:endParaRPr lang="en-US" altLang="zh-CN"/>
          </a:p>
          <a:p>
            <a:pPr algn="ctr"/>
            <a:r>
              <a:rPr lang="en-US" altLang="zh-CN"/>
              <a:t>hjy</a:t>
            </a:r>
            <a:endParaRPr lang="en-US" altLang="zh-CN"/>
          </a:p>
        </p:txBody>
      </p:sp>
      <p:sp>
        <p:nvSpPr>
          <p:cNvPr id="32" name="矩形 31"/>
          <p:cNvSpPr/>
          <p:nvPr/>
        </p:nvSpPr>
        <p:spPr>
          <a:xfrm>
            <a:off x="2089785" y="1563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SAR </a:t>
            </a:r>
            <a:r>
              <a:rPr lang="en-US" altLang="zh-CN"/>
              <a:t>Core</a:t>
            </a:r>
            <a:endParaRPr lang="en-US" altLang="zh-CN"/>
          </a:p>
          <a:p>
            <a:pPr algn="ctr"/>
            <a:r>
              <a:rPr lang="en-US" altLang="zh-CN"/>
              <a:t>hzp</a:t>
            </a:r>
            <a:endParaRPr lang="en-US" altLang="zh-CN"/>
          </a:p>
        </p:txBody>
      </p:sp>
      <p:sp>
        <p:nvSpPr>
          <p:cNvPr id="33" name="矩形 32"/>
          <p:cNvSpPr/>
          <p:nvPr/>
        </p:nvSpPr>
        <p:spPr>
          <a:xfrm>
            <a:off x="337185" y="1422400"/>
            <a:ext cx="3625850" cy="13195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572770" y="1690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THA</a:t>
            </a:r>
            <a:endParaRPr lang="en-US" altLang="zh-CN"/>
          </a:p>
          <a:p>
            <a:pPr algn="ctr"/>
            <a:r>
              <a:rPr lang="en-US" altLang="zh-CN"/>
              <a:t>hjy</a:t>
            </a:r>
            <a:endParaRPr lang="en-US" altLang="zh-CN"/>
          </a:p>
        </p:txBody>
      </p:sp>
      <p:sp>
        <p:nvSpPr>
          <p:cNvPr id="35" name="矩形 34"/>
          <p:cNvSpPr/>
          <p:nvPr/>
        </p:nvSpPr>
        <p:spPr>
          <a:xfrm>
            <a:off x="2216785" y="1690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SAR </a:t>
            </a:r>
            <a:r>
              <a:rPr lang="en-US" altLang="zh-CN"/>
              <a:t>Core</a:t>
            </a:r>
            <a:endParaRPr lang="en-US" altLang="zh-CN"/>
          </a:p>
          <a:p>
            <a:pPr algn="ctr"/>
            <a:r>
              <a:rPr lang="en-US" altLang="zh-CN"/>
              <a:t>hzp</a:t>
            </a:r>
            <a:endParaRPr lang="en-US" altLang="zh-CN"/>
          </a:p>
        </p:txBody>
      </p:sp>
      <p:sp>
        <p:nvSpPr>
          <p:cNvPr id="36" name="矩形 35"/>
          <p:cNvSpPr/>
          <p:nvPr/>
        </p:nvSpPr>
        <p:spPr>
          <a:xfrm>
            <a:off x="464185" y="1549400"/>
            <a:ext cx="3625850" cy="13195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699770" y="1817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THA</a:t>
            </a:r>
            <a:endParaRPr lang="en-US" altLang="zh-CN"/>
          </a:p>
          <a:p>
            <a:pPr algn="ctr"/>
            <a:r>
              <a:rPr lang="en-US" altLang="zh-CN"/>
              <a:t>hjy</a:t>
            </a:r>
            <a:endParaRPr lang="en-US" altLang="zh-CN"/>
          </a:p>
        </p:txBody>
      </p:sp>
      <p:sp>
        <p:nvSpPr>
          <p:cNvPr id="38" name="矩形 37"/>
          <p:cNvSpPr/>
          <p:nvPr/>
        </p:nvSpPr>
        <p:spPr>
          <a:xfrm>
            <a:off x="2343785" y="1817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SAR </a:t>
            </a:r>
            <a:r>
              <a:rPr lang="en-US" altLang="zh-CN"/>
              <a:t>Core</a:t>
            </a:r>
            <a:endParaRPr lang="en-US" altLang="zh-CN"/>
          </a:p>
          <a:p>
            <a:pPr algn="ctr"/>
            <a:r>
              <a:rPr lang="en-US" altLang="zh-CN"/>
              <a:t>hzp</a:t>
            </a:r>
            <a:endParaRPr lang="en-US" altLang="zh-CN"/>
          </a:p>
        </p:txBody>
      </p:sp>
      <p:sp>
        <p:nvSpPr>
          <p:cNvPr id="39" name="矩形 38"/>
          <p:cNvSpPr/>
          <p:nvPr/>
        </p:nvSpPr>
        <p:spPr>
          <a:xfrm>
            <a:off x="591185" y="1676400"/>
            <a:ext cx="3625850" cy="13195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26770" y="1944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THA</a:t>
            </a:r>
            <a:endParaRPr lang="en-US" altLang="zh-CN"/>
          </a:p>
          <a:p>
            <a:pPr algn="ctr"/>
            <a:r>
              <a:rPr lang="en-US" altLang="zh-CN"/>
              <a:t>hjy</a:t>
            </a:r>
            <a:endParaRPr lang="en-US" altLang="zh-CN"/>
          </a:p>
        </p:txBody>
      </p:sp>
      <p:sp>
        <p:nvSpPr>
          <p:cNvPr id="41" name="矩形 40"/>
          <p:cNvSpPr/>
          <p:nvPr/>
        </p:nvSpPr>
        <p:spPr>
          <a:xfrm>
            <a:off x="2470785" y="1944370"/>
            <a:ext cx="1397635" cy="7721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SAR </a:t>
            </a:r>
            <a:r>
              <a:rPr lang="en-US" altLang="zh-CN"/>
              <a:t>Core</a:t>
            </a:r>
            <a:endParaRPr lang="en-US" altLang="zh-CN"/>
          </a:p>
          <a:p>
            <a:pPr algn="ctr"/>
            <a:r>
              <a:rPr lang="en-US" altLang="zh-CN"/>
              <a:t>hzp</a:t>
            </a:r>
            <a:endParaRPr lang="en-US" altLang="zh-CN"/>
          </a:p>
        </p:txBody>
      </p:sp>
      <p:sp>
        <p:nvSpPr>
          <p:cNvPr id="42" name="文本框 41"/>
          <p:cNvSpPr txBox="1"/>
          <p:nvPr/>
        </p:nvSpPr>
        <p:spPr>
          <a:xfrm>
            <a:off x="4090035" y="1129030"/>
            <a:ext cx="815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x64</a:t>
            </a:r>
            <a:r>
              <a:rPr lang="zh-CN" altLang="en-US"/>
              <a:t>路</a:t>
            </a:r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6451600" y="354330"/>
            <a:ext cx="4702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THA</a:t>
            </a:r>
            <a:r>
              <a:rPr lang="zh-CN" altLang="en-US"/>
              <a:t>行为模型</a:t>
            </a:r>
            <a:r>
              <a:rPr lang="en-US" altLang="zh-CN"/>
              <a:t>：</a:t>
            </a:r>
            <a:r>
              <a:rPr lang="zh-CN" altLang="en-US"/>
              <a:t>用</a:t>
            </a:r>
            <a:r>
              <a:rPr lang="en-US" altLang="zh-CN"/>
              <a:t>latch</a:t>
            </a:r>
            <a:r>
              <a:rPr lang="zh-CN" altLang="en-US"/>
              <a:t>完成</a:t>
            </a:r>
            <a:r>
              <a:rPr lang="zh-CN" altLang="en-US">
                <a:ln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连续</a:t>
            </a:r>
            <a:r>
              <a:rPr lang="en-US" altLang="zh-CN">
                <a:ln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-&gt;</a:t>
            </a:r>
            <a:r>
              <a:rPr lang="zh-CN" altLang="en-US">
                <a:ln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离散</a:t>
            </a:r>
            <a:endParaRPr lang="zh-CN" altLang="en-US">
              <a:ln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380" y="722630"/>
            <a:ext cx="5537200" cy="148590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00" y="3694430"/>
            <a:ext cx="3124200" cy="134620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2208530"/>
            <a:ext cx="5740400" cy="148590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65" y="3992245"/>
            <a:ext cx="5100320" cy="25831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SAR Core</a:t>
            </a:r>
            <a:r>
              <a:rPr lang="zh-CN" altLang="en-US"/>
              <a:t>的行为</a:t>
            </a:r>
            <a:r>
              <a:rPr lang="zh-CN" altLang="en-US"/>
              <a:t>模型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3685"/>
            <a:ext cx="6489700" cy="27362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59425" y="329565"/>
            <a:ext cx="2992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模拟输入，</a:t>
            </a:r>
            <a:r>
              <a:rPr lang="en-US" altLang="zh-CN">
                <a:solidFill>
                  <a:srgbClr val="FF0000"/>
                </a:solidFill>
              </a:rPr>
              <a:t>64</a:t>
            </a:r>
            <a:r>
              <a:rPr lang="zh-CN" altLang="en-US">
                <a:solidFill>
                  <a:srgbClr val="FF0000"/>
                </a:solidFill>
              </a:rPr>
              <a:t>路时钟的脉冲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31840" y="1257300"/>
            <a:ext cx="2116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gain</a:t>
            </a:r>
            <a:r>
              <a:rPr lang="zh-CN" altLang="en-US">
                <a:solidFill>
                  <a:srgbClr val="FF0000"/>
                </a:solidFill>
              </a:rPr>
              <a:t>的校准接口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31840" y="1884680"/>
            <a:ext cx="1988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offset</a:t>
            </a:r>
            <a:r>
              <a:rPr lang="zh-CN" altLang="en-US">
                <a:solidFill>
                  <a:srgbClr val="FF0000"/>
                </a:solidFill>
              </a:rPr>
              <a:t>的校准接口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22575" y="2641600"/>
            <a:ext cx="753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输出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9900"/>
            <a:ext cx="6934200" cy="18923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930140" cy="68580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517900" y="2613025"/>
            <a:ext cx="3171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ADC</a:t>
            </a:r>
            <a:r>
              <a:rPr lang="zh-CN" altLang="en-US">
                <a:solidFill>
                  <a:srgbClr val="FF0000"/>
                </a:solidFill>
              </a:rPr>
              <a:t>转换过程</a:t>
            </a:r>
            <a:r>
              <a:rPr lang="en-US" altLang="zh-CN">
                <a:solidFill>
                  <a:srgbClr val="FF0000"/>
                </a:solidFill>
              </a:rPr>
              <a:t>--</a:t>
            </a:r>
            <a:r>
              <a:rPr lang="zh-CN" altLang="en-US">
                <a:solidFill>
                  <a:srgbClr val="FF0000"/>
                </a:solidFill>
              </a:rPr>
              <a:t>理论参考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795" y="2609850"/>
            <a:ext cx="4434205" cy="42481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924175" y="4258310"/>
            <a:ext cx="3171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ADC</a:t>
            </a:r>
            <a:r>
              <a:rPr lang="zh-CN" altLang="en-US">
                <a:solidFill>
                  <a:srgbClr val="FF0000"/>
                </a:solidFill>
              </a:rPr>
              <a:t>转换过程</a:t>
            </a:r>
            <a:r>
              <a:rPr lang="en-US" altLang="zh-CN">
                <a:solidFill>
                  <a:srgbClr val="FF0000"/>
                </a:solidFill>
              </a:rPr>
              <a:t>--CDAC</a:t>
            </a:r>
            <a:r>
              <a:rPr lang="zh-CN" altLang="en-US">
                <a:solidFill>
                  <a:srgbClr val="FF0000"/>
                </a:solidFill>
              </a:rPr>
              <a:t>方式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57795" y="2241550"/>
            <a:ext cx="17564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CDAC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权重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信息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7525"/>
            <a:ext cx="3783330" cy="17697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8135" y="149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FFT</a:t>
            </a:r>
            <a:r>
              <a:rPr lang="zh-CN" altLang="en-US"/>
              <a:t>分析</a:t>
            </a:r>
            <a:r>
              <a:rPr lang="zh-CN" altLang="en-US"/>
              <a:t>结果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01570"/>
            <a:ext cx="5320030" cy="14185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15" y="2646045"/>
            <a:ext cx="3906520" cy="39065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9PI</a:t>
            </a:r>
            <a:r>
              <a:rPr lang="zh-CN" altLang="en-US"/>
              <a:t>的行为级模型</a:t>
            </a:r>
            <a:r>
              <a:rPr lang="en-US" altLang="zh-CN"/>
              <a:t>，</a:t>
            </a:r>
            <a:r>
              <a:rPr lang="zh-CN" altLang="en-US"/>
              <a:t>验证</a:t>
            </a:r>
            <a:r>
              <a:rPr lang="zh-CN" altLang="en-US"/>
              <a:t>细节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" y="501650"/>
            <a:ext cx="6807200" cy="58547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06945" y="885190"/>
            <a:ext cx="4715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PI_I_MUX</a:t>
            </a:r>
            <a:r>
              <a:rPr lang="zh-CN" altLang="en-US"/>
              <a:t>变化，对应的</a:t>
            </a:r>
            <a:r>
              <a:rPr lang="en-US" altLang="zh-CN"/>
              <a:t>9PI</a:t>
            </a:r>
            <a:r>
              <a:rPr lang="zh-CN" altLang="en-US"/>
              <a:t>输出相位变化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采样不同的</a:t>
            </a:r>
            <a:r>
              <a:rPr lang="en-US" altLang="zh-CN"/>
              <a:t>Inject </a:t>
            </a:r>
            <a:r>
              <a:rPr lang="en-US" altLang="zh-CN"/>
              <a:t>Phase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6870" y="141605"/>
            <a:ext cx="1883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5PI</a:t>
            </a:r>
            <a:r>
              <a:rPr lang="zh-CN" altLang="en-US"/>
              <a:t>的验证细节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42695"/>
            <a:ext cx="12192000" cy="26682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" y="3979545"/>
            <a:ext cx="4801235" cy="28784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948055"/>
            <a:ext cx="7778750" cy="44869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9PI</a:t>
            </a:r>
            <a:r>
              <a:rPr lang="zh-CN" altLang="en-US"/>
              <a:t>的行为级模型</a:t>
            </a:r>
            <a:r>
              <a:rPr lang="en-US" altLang="zh-CN"/>
              <a:t>，</a:t>
            </a:r>
            <a:r>
              <a:rPr lang="zh-CN" altLang="en-US"/>
              <a:t>验证</a:t>
            </a:r>
            <a:r>
              <a:rPr lang="zh-CN" altLang="en-US"/>
              <a:t>细节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258810" y="1093470"/>
            <a:ext cx="3255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PI_I_W</a:t>
            </a:r>
            <a:r>
              <a:rPr lang="zh-CN" altLang="en-US"/>
              <a:t>变化</a:t>
            </a:r>
            <a:r>
              <a:rPr lang="en-US" altLang="zh-CN"/>
              <a:t>，Ip</a:t>
            </a:r>
            <a:r>
              <a:rPr lang="zh-CN" altLang="en-US"/>
              <a:t>的相位介于</a:t>
            </a:r>
            <a:r>
              <a:rPr lang="en-US" altLang="zh-CN"/>
              <a:t>2phase</a:t>
            </a:r>
            <a:r>
              <a:rPr lang="zh-CN" altLang="en-US"/>
              <a:t>中间</a:t>
            </a:r>
            <a:r>
              <a:rPr lang="en-US" altLang="zh-CN"/>
              <a:t>，</a:t>
            </a:r>
            <a:r>
              <a:rPr lang="zh-CN" altLang="en-US"/>
              <a:t>实现插值</a:t>
            </a:r>
            <a:r>
              <a:rPr lang="zh-CN" altLang="en-US"/>
              <a:t>变化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06375" y="3251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DTC</a:t>
            </a:r>
            <a:r>
              <a:rPr lang="zh-CN" altLang="en-US"/>
              <a:t>的</a:t>
            </a:r>
            <a:r>
              <a:rPr lang="zh-CN" altLang="en-US"/>
              <a:t>验证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861060"/>
            <a:ext cx="8915400" cy="17272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7875905" y="1426845"/>
            <a:ext cx="825500" cy="33280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204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5407660" y="3971290"/>
            <a:ext cx="1450340" cy="7835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SPI</a:t>
            </a:r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5407660" y="1284605"/>
            <a:ext cx="1376680" cy="9105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校准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1085</Words>
  <Application>WPS 文字</Application>
  <PresentationFormat>宽屏</PresentationFormat>
  <Paragraphs>319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Apple Color Emoji</vt:lpstr>
      <vt:lpstr>-apple-system</vt:lpstr>
      <vt:lpstr>SF Mono</vt:lpstr>
      <vt:lpstr>Thonburi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良辰</cp:lastModifiedBy>
  <cp:revision>174</cp:revision>
  <dcterms:created xsi:type="dcterms:W3CDTF">2026-08-14T07:16:38Z</dcterms:created>
  <dcterms:modified xsi:type="dcterms:W3CDTF">2026-08-14T07:16:38Z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89835B84F5348650356B7D6AE51EFE93_43</vt:lpwstr>
  </property>
</Properties>
</file>