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0"/>
            <a:ext cx="1076134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SPI </a:t>
            </a:r>
            <a:r>
              <a:rPr lang="zh-CN" altLang="en-US" sz="1600"/>
              <a:t>接口层 </a:t>
            </a:r>
            <a:r>
              <a:rPr lang="en-US" altLang="zh-CN" sz="1600"/>
              <a:t>→ MMR </a:t>
            </a:r>
            <a:r>
              <a:rPr lang="zh-CN" altLang="en-US" sz="1600"/>
              <a:t>访问协议 </a:t>
            </a:r>
            <a:r>
              <a:rPr lang="en-US" altLang="zh-CN" sz="1600"/>
              <a:t>→ Register Read/Write → </a:t>
            </a:r>
            <a:r>
              <a:rPr lang="zh-CN" altLang="en-US" sz="1600"/>
              <a:t>异常</a:t>
            </a:r>
            <a:r>
              <a:rPr lang="en-US" altLang="zh-CN" sz="1600"/>
              <a:t>/</a:t>
            </a:r>
            <a:r>
              <a:rPr lang="zh-CN" altLang="en-US" sz="1600"/>
              <a:t>边界条件 </a:t>
            </a:r>
            <a:r>
              <a:rPr lang="en-US" altLang="zh-CN" sz="1600"/>
              <a:t>→ Reset/</a:t>
            </a:r>
            <a:r>
              <a:rPr lang="zh-CN" altLang="en-US" sz="1600"/>
              <a:t>时序 </a:t>
            </a:r>
            <a:r>
              <a:rPr lang="en-US" altLang="zh-CN" sz="1600"/>
              <a:t>→ </a:t>
            </a:r>
            <a:r>
              <a:rPr lang="zh-CN" altLang="en-US" sz="1600"/>
              <a:t>覆盖率</a:t>
            </a:r>
            <a:endParaRPr lang="zh-CN" altLang="en-US" sz="1600"/>
          </a:p>
        </p:txBody>
      </p:sp>
      <p:graphicFrame>
        <p:nvGraphicFramePr>
          <p:cNvPr id="6" name="表格 5"/>
          <p:cNvGraphicFramePr/>
          <p:nvPr/>
        </p:nvGraphicFramePr>
        <p:xfrm>
          <a:off x="57785" y="337185"/>
          <a:ext cx="5002530" cy="217932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358900"/>
                <a:gridCol w="1073785"/>
                <a:gridCol w="2569845"/>
              </a:tblGrid>
              <a:tr h="0">
                <a:tc>
                  <a:txBody>
                    <a:bodyPr/>
                    <a:p>
                      <a:r>
                        <a:rPr lang="en-US" altLang="zh-CN" sz="1100"/>
                        <a:t>Section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内容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重点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1. Objective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测试目标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SPI + MMR </a:t>
                      </a:r>
                      <a:r>
                        <a:rPr lang="zh-CN" altLang="en-US" sz="1100"/>
                        <a:t>功能完整性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2. DUT Overview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DUT </a:t>
                      </a:r>
                      <a:r>
                        <a:rPr lang="zh-CN" altLang="en-US" sz="1100"/>
                        <a:t>简介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SPI Slave + MMR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3. Interface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SPI </a:t>
                      </a:r>
                      <a:r>
                        <a:rPr lang="zh-CN" altLang="en-US" sz="1100"/>
                        <a:t>接口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CS/SCLK/MOSI/MISO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4. Protocol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SPI </a:t>
                      </a:r>
                      <a:r>
                        <a:rPr lang="zh-CN" altLang="en-US" sz="1100"/>
                        <a:t>协议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Mode 0/CPOL/CPHA</a:t>
                      </a:r>
                      <a:r>
                        <a:rPr lang="zh-CN" altLang="en-US" sz="1100"/>
                        <a:t>、</a:t>
                      </a:r>
                      <a:r>
                        <a:rPr lang="en-US" altLang="zh-CN" sz="1100"/>
                        <a:t>bit order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5. MMR Access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寄存器访问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Read / Write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6. Register Test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Register </a:t>
                      </a:r>
                      <a:r>
                        <a:rPr lang="zh-CN" altLang="en-US" sz="1100"/>
                        <a:t>验证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RW/RO/WO/Reserved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7. Boundary Test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边界条件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最小</a:t>
                      </a:r>
                      <a:r>
                        <a:rPr lang="en-US" altLang="zh-CN" sz="1100"/>
                        <a:t>/</a:t>
                      </a:r>
                      <a:r>
                        <a:rPr lang="zh-CN" altLang="en-US" sz="1100"/>
                        <a:t>最大地址、连续访问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8. Error Test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异常测试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非法地址、错误长度、</a:t>
                      </a:r>
                      <a:r>
                        <a:rPr lang="en-US" altLang="zh-CN" sz="1100"/>
                        <a:t>CS</a:t>
                      </a:r>
                      <a:r>
                        <a:rPr lang="zh-CN" altLang="en-US" sz="1100"/>
                        <a:t>异常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9. Reset Test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Reset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POR/</a:t>
                      </a:r>
                      <a:r>
                        <a:rPr lang="zh-CN" altLang="en-US" sz="1100"/>
                        <a:t>外部</a:t>
                      </a:r>
                      <a:r>
                        <a:rPr lang="en-US" altLang="zh-CN" sz="1100"/>
                        <a:t>Reset/Reset</a:t>
                      </a:r>
                      <a:r>
                        <a:rPr lang="zh-CN" altLang="en-US" sz="1100"/>
                        <a:t>期间</a:t>
                      </a:r>
                      <a:r>
                        <a:rPr lang="en-US" altLang="zh-CN" sz="1100"/>
                        <a:t>SPI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10. Timing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时序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SCLK</a:t>
                      </a:r>
                      <a:r>
                        <a:rPr lang="zh-CN" altLang="en-US" sz="1100"/>
                        <a:t>频率、</a:t>
                      </a:r>
                      <a:r>
                        <a:rPr lang="en-US" altLang="zh-CN" sz="1100"/>
                        <a:t>CS</a:t>
                      </a:r>
                      <a:r>
                        <a:rPr lang="zh-CN" altLang="en-US" sz="1100"/>
                        <a:t>建立保持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11. Stress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压力测试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连续读写、随机访问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12. Coverage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覆盖率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Functional + Code Coverage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  <p:graphicFrame>
        <p:nvGraphicFramePr>
          <p:cNvPr id="7" name="表格 6"/>
          <p:cNvGraphicFramePr/>
          <p:nvPr/>
        </p:nvGraphicFramePr>
        <p:xfrm>
          <a:off x="57785" y="2810510"/>
          <a:ext cx="10485120" cy="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3495040"/>
                <a:gridCol w="3495040"/>
                <a:gridCol w="3495040"/>
              </a:tblGrid>
              <a:tr h="0">
                <a:tc>
                  <a:txBody>
                    <a:bodyPr/>
                    <a:p>
                      <a:r>
                        <a:rPr lang="en-US" altLang="zh-CN" sz="1100"/>
                        <a:t>ID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Test Item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Description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SPI-001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SPI Reset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Reset </a:t>
                      </a:r>
                      <a:r>
                        <a:rPr lang="zh-CN" altLang="en-US" sz="1100"/>
                        <a:t>后 </a:t>
                      </a:r>
                      <a:r>
                        <a:rPr lang="en-US" altLang="zh-CN" sz="1100"/>
                        <a:t>SPI </a:t>
                      </a:r>
                      <a:r>
                        <a:rPr lang="zh-CN" altLang="en-US" sz="1100"/>
                        <a:t>状态机回到 </a:t>
                      </a:r>
                      <a:r>
                        <a:rPr lang="en-US" altLang="zh-CN" sz="1100"/>
                        <a:t>IDLE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SPI-002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SPI Write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正常写入一个 </a:t>
                      </a:r>
                      <a:r>
                        <a:rPr lang="en-US" altLang="zh-CN" sz="1100"/>
                        <a:t>RW MMR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SPI-003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SPI Read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正常读取一个 </a:t>
                      </a:r>
                      <a:r>
                        <a:rPr lang="en-US" altLang="zh-CN" sz="1100"/>
                        <a:t>MMR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SPI-004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Write &amp; Readback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写入后读取并比较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SPI-005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RO Register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写 </a:t>
                      </a:r>
                      <a:r>
                        <a:rPr lang="en-US" altLang="zh-CN" sz="1100"/>
                        <a:t>RO </a:t>
                      </a:r>
                      <a:r>
                        <a:rPr lang="zh-CN" altLang="en-US" sz="1100"/>
                        <a:t>寄存器不应改变值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SPI-006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Reserved Register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访问 </a:t>
                      </a:r>
                      <a:r>
                        <a:rPr lang="en-US" altLang="zh-CN" sz="1100"/>
                        <a:t>Reserved </a:t>
                      </a:r>
                      <a:r>
                        <a:rPr lang="zh-CN" altLang="en-US" sz="1100"/>
                        <a:t>地址行为符合 </a:t>
                      </a:r>
                      <a:r>
                        <a:rPr lang="en-US" altLang="zh-CN" sz="1100"/>
                        <a:t>spec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SPI-007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First/Last Address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访问 </a:t>
                      </a:r>
                      <a:r>
                        <a:rPr lang="en-US" altLang="zh-CN" sz="1100"/>
                        <a:t>MMR </a:t>
                      </a:r>
                      <a:r>
                        <a:rPr lang="zh-CN" altLang="en-US" sz="1100"/>
                        <a:t>地址空间边界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SPI-008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All-0 Data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写入 </a:t>
                      </a:r>
                      <a:r>
                        <a:rPr lang="en-US" altLang="zh-CN" sz="1100"/>
                        <a:t>0x00000000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SPI-009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All-1 Data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写入 </a:t>
                      </a:r>
                      <a:r>
                        <a:rPr lang="en-US" altLang="zh-CN" sz="1100"/>
                        <a:t>0xFFFFFFFF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SPI-010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Alternating Data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0xAAAAAAAA / 0x55555555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SPI-011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Back-to-back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连续 </a:t>
                      </a:r>
                      <a:r>
                        <a:rPr lang="en-US" altLang="zh-CN" sz="1100"/>
                        <a:t>SPI transaction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SPI-012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CS Toggle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CS </a:t>
                      </a:r>
                      <a:r>
                        <a:rPr lang="zh-CN" altLang="en-US" sz="1100"/>
                        <a:t>拉高</a:t>
                      </a:r>
                      <a:r>
                        <a:rPr lang="en-US" altLang="zh-CN" sz="1100"/>
                        <a:t>/</a:t>
                      </a:r>
                      <a:r>
                        <a:rPr lang="zh-CN" altLang="en-US" sz="1100"/>
                        <a:t>拉低后的状态恢复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SPI-013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Premature CS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transaction </a:t>
                      </a:r>
                      <a:r>
                        <a:rPr lang="zh-CN" altLang="en-US" sz="1100"/>
                        <a:t>中途拉高 </a:t>
                      </a:r>
                      <a:r>
                        <a:rPr lang="en-US" altLang="zh-CN" sz="1100"/>
                        <a:t>CS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SPI-014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Invalid Address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非法 </a:t>
                      </a:r>
                      <a:r>
                        <a:rPr lang="en-US" altLang="zh-CN" sz="1100"/>
                        <a:t>MMR </a:t>
                      </a:r>
                      <a:r>
                        <a:rPr lang="zh-CN" altLang="en-US" sz="1100"/>
                        <a:t>地址访问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SPI-015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Max SCLK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最大 </a:t>
                      </a:r>
                      <a:r>
                        <a:rPr lang="en-US" altLang="zh-CN" sz="1100"/>
                        <a:t>SPI clock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SPI-016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Min SCLK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最低 </a:t>
                      </a:r>
                      <a:r>
                        <a:rPr lang="en-US" altLang="zh-CN" sz="1100"/>
                        <a:t>SPI clock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SPI-017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Reset During SPI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transaction </a:t>
                      </a:r>
                      <a:r>
                        <a:rPr lang="zh-CN" altLang="en-US" sz="1100"/>
                        <a:t>中间发生 </a:t>
                      </a:r>
                      <a:r>
                        <a:rPr lang="en-US" altLang="zh-CN" sz="1100"/>
                        <a:t>reset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SPI-018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Random Access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随机地址</a:t>
                      </a:r>
                      <a:r>
                        <a:rPr lang="en-US" altLang="zh-CN" sz="1100"/>
                        <a:t>/</a:t>
                      </a:r>
                      <a:r>
                        <a:rPr lang="zh-CN" altLang="en-US" sz="1100"/>
                        <a:t>数据读写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SPI-019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Stress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长时间连续 </a:t>
                      </a:r>
                      <a:r>
                        <a:rPr lang="en-US" altLang="zh-CN" sz="1100"/>
                        <a:t>SPI transaction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r>
                        <a:rPr lang="en-US" altLang="zh-CN" sz="1100"/>
                        <a:t>SPI-020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Register Sweep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全部 </a:t>
                      </a:r>
                      <a:r>
                        <a:rPr lang="en-US" altLang="zh-CN" sz="1100"/>
                        <a:t>MMR </a:t>
                      </a:r>
                      <a:r>
                        <a:rPr lang="zh-CN" altLang="en-US" sz="1100"/>
                        <a:t>地址扫描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1188</Words>
  <Application>WPS 演示</Application>
  <PresentationFormat>宽屏</PresentationFormat>
  <Paragraphs>206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良辰</cp:lastModifiedBy>
  <cp:revision>164</cp:revision>
  <dcterms:created xsi:type="dcterms:W3CDTF">2026-08-17T07:59:56Z</dcterms:created>
  <dcterms:modified xsi:type="dcterms:W3CDTF">2026-08-17T07:59:56Z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2052-12.1.26016.26016</vt:lpwstr>
  </property>
  <property fmtid="{D5CDD505-2E9C-101B-9397-08002B2CF9AE}" pid="3" name="ICV">
    <vt:lpwstr>28C53494E4AAE7581DBF826A8E46F234_41</vt:lpwstr>
  </property>
</Properties>
</file>