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3"/>
    <p:sldId id="258" r:id="rId4"/>
    <p:sldId id="259" r:id="rId5"/>
    <p:sldId id="260" r:id="rId6"/>
    <p:sldId id="261" r:id="rId7"/>
    <p:sldId id="25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9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2026-7-16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94005" y="374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行为模型</a:t>
            </a:r>
            <a:r>
              <a:rPr lang="zh-CN" altLang="en-US"/>
              <a:t>搭建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774440" y="834390"/>
            <a:ext cx="1430020" cy="73025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CLK </a:t>
            </a:r>
            <a:r>
              <a:rPr lang="en-US" altLang="zh-CN"/>
              <a:t>Gen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1055370" y="2410460"/>
            <a:ext cx="14300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2756535" y="2410460"/>
            <a:ext cx="1572260" cy="73025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Dig.&amp;Calib.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4663440" y="2410460"/>
            <a:ext cx="1315720" cy="73025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204C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6313805" y="2410460"/>
            <a:ext cx="13157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TX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6313805" y="1457960"/>
            <a:ext cx="131572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PLL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6760210" y="438150"/>
            <a:ext cx="760095" cy="21590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7520305" y="374650"/>
            <a:ext cx="1429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数字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6760210" y="843915"/>
            <a:ext cx="760095" cy="21653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9017635" y="2058670"/>
            <a:ext cx="3112770" cy="1616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Sensor:	</a:t>
            </a:r>
            <a:r>
              <a:rPr lang="zh-CN" altLang="en-US"/>
              <a:t>曹建鹏</a:t>
            </a:r>
            <a:endParaRPr lang="zh-CN" altLang="en-US"/>
          </a:p>
          <a:p>
            <a:r>
              <a:rPr lang="en-US" altLang="zh-CN"/>
              <a:t>ADC:	</a:t>
            </a:r>
            <a:r>
              <a:rPr lang="zh-CN" altLang="en-US">
                <a:sym typeface="+mn-ea"/>
              </a:rPr>
              <a:t>胡嘉莹</a:t>
            </a:r>
            <a:endParaRPr lang="en-US" altLang="zh-CN"/>
          </a:p>
          <a:p>
            <a:r>
              <a:rPr lang="en-US" altLang="zh-CN"/>
              <a:t>PLL:	</a:t>
            </a:r>
            <a:r>
              <a:rPr lang="zh-CN" altLang="en-US"/>
              <a:t>何雨龙</a:t>
            </a:r>
            <a:endParaRPr lang="zh-CN" altLang="en-US"/>
          </a:p>
          <a:p>
            <a:r>
              <a:rPr lang="en-US" altLang="zh-CN"/>
              <a:t>TX:	</a:t>
            </a:r>
            <a:r>
              <a:rPr lang="zh-CN" altLang="en-US"/>
              <a:t>方志毓</a:t>
            </a:r>
            <a:endParaRPr lang="zh-CN" altLang="en-US"/>
          </a:p>
          <a:p>
            <a:r>
              <a:rPr lang="en-US" altLang="zh-CN"/>
              <a:t>SPI:	</a:t>
            </a:r>
            <a:r>
              <a:rPr lang="zh-CN" altLang="en-US"/>
              <a:t>葛良晨</a:t>
            </a:r>
            <a:endParaRPr lang="zh-CN" altLang="en-US"/>
          </a:p>
          <a:p>
            <a:r>
              <a:rPr lang="zh-CN" altLang="en-US"/>
              <a:t>数字校准&amp;204:</a:t>
            </a:r>
            <a:r>
              <a:rPr lang="en-US" altLang="zh-CN"/>
              <a:t>	</a:t>
            </a:r>
            <a:r>
              <a:rPr lang="zh-CN" altLang="en-US"/>
              <a:t>蒋子昀</a:t>
            </a:r>
            <a:endParaRPr lang="zh-CN" altLang="en-US"/>
          </a:p>
        </p:txBody>
      </p:sp>
      <p:pic>
        <p:nvPicPr>
          <p:cNvPr id="5" name="图片 4" descr="对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6270" y="3038475"/>
            <a:ext cx="636905" cy="636905"/>
          </a:xfrm>
          <a:prstGeom prst="rect">
            <a:avLst/>
          </a:prstGeom>
        </p:spPr>
      </p:pic>
      <p:pic>
        <p:nvPicPr>
          <p:cNvPr id="13" name="图片 12" descr="对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4535" y="2992120"/>
            <a:ext cx="636905" cy="636905"/>
          </a:xfrm>
          <a:prstGeom prst="rect">
            <a:avLst/>
          </a:prstGeom>
        </p:spPr>
      </p:pic>
      <p:pic>
        <p:nvPicPr>
          <p:cNvPr id="19" name="图片 18" descr="对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440" y="1355090"/>
            <a:ext cx="636905" cy="636905"/>
          </a:xfrm>
          <a:prstGeom prst="rect">
            <a:avLst/>
          </a:prstGeom>
        </p:spPr>
      </p:pic>
      <p:graphicFrame>
        <p:nvGraphicFramePr>
          <p:cNvPr id="22" name="表格 21"/>
          <p:cNvGraphicFramePr/>
          <p:nvPr/>
        </p:nvGraphicFramePr>
        <p:xfrm>
          <a:off x="737870" y="4611370"/>
          <a:ext cx="593153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790"/>
                <a:gridCol w="3166745"/>
              </a:tblGrid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事项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完成</a:t>
                      </a:r>
                      <a:r>
                        <a:rPr lang="zh-CN" altLang="en-US"/>
                        <a:t>情况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模拟模块行为级</a:t>
                      </a:r>
                      <a:r>
                        <a:rPr lang="zh-CN" altLang="en-US"/>
                        <a:t>建模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基本</a:t>
                      </a:r>
                      <a:r>
                        <a:rPr lang="zh-CN" altLang="en-US"/>
                        <a:t>完成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Top</a:t>
                      </a:r>
                      <a:r>
                        <a:rPr lang="zh-CN" altLang="en-US" sz="1800">
                          <a:sym typeface="+mn-ea"/>
                        </a:rPr>
                        <a:t>层连线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待完成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校准模块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待完成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7520305" y="768350"/>
            <a:ext cx="1315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模拟</a:t>
            </a:r>
            <a:r>
              <a:rPr lang="zh-CN" altLang="en-US"/>
              <a:t>模块</a:t>
            </a:r>
            <a:endParaRPr lang="zh-CN" altLang="en-US"/>
          </a:p>
        </p:txBody>
      </p:sp>
      <p:pic>
        <p:nvPicPr>
          <p:cNvPr id="24" name="图片 23" descr="对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2150" y="4856480"/>
            <a:ext cx="636905" cy="636905"/>
          </a:xfrm>
          <a:prstGeom prst="rect">
            <a:avLst/>
          </a:prstGeom>
        </p:spPr>
      </p:pic>
      <p:pic>
        <p:nvPicPr>
          <p:cNvPr id="25" name="图片 24" descr="代办事项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7750" y="5260340"/>
            <a:ext cx="561340" cy="561340"/>
          </a:xfrm>
          <a:prstGeom prst="rect">
            <a:avLst/>
          </a:prstGeom>
        </p:spPr>
      </p:pic>
      <p:pic>
        <p:nvPicPr>
          <p:cNvPr id="26" name="图片 25" descr="代办事项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9090" y="5665470"/>
            <a:ext cx="561340" cy="561340"/>
          </a:xfrm>
          <a:prstGeom prst="rect">
            <a:avLst/>
          </a:prstGeom>
        </p:spPr>
      </p:pic>
      <p:pic>
        <p:nvPicPr>
          <p:cNvPr id="27" name="图片 26" descr="半对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6630" y="1849120"/>
            <a:ext cx="561340" cy="56134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9732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538220" y="356870"/>
            <a:ext cx="3189605" cy="761365"/>
          </a:xfrm>
          <a:prstGeom prst="rect">
            <a:avLst/>
          </a:prstGeom>
          <a:noFill/>
          <a:ln w="571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24040" y="490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路</a:t>
            </a:r>
            <a:r>
              <a:rPr lang="en-US" altLang="zh-CN">
                <a:sym typeface="+mn-ea"/>
              </a:rPr>
              <a:t> </a:t>
            </a:r>
            <a:r>
              <a:rPr lang="en-US" altLang="zh-CN"/>
              <a:t>16GHz </a:t>
            </a:r>
            <a:r>
              <a:rPr lang="zh-CN" altLang="en-US"/>
              <a:t>正交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58285" y="1313180"/>
            <a:ext cx="2439035" cy="5544820"/>
          </a:xfrm>
          <a:prstGeom prst="rect">
            <a:avLst/>
          </a:prstGeom>
          <a:noFill/>
          <a:ln w="571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81215" y="3705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76415" y="30607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16*4=64</a:t>
            </a:r>
            <a:r>
              <a:rPr lang="zh-CN" altLang="en-US">
                <a:sym typeface="+mn-ea"/>
              </a:rPr>
              <a:t>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均匀相位分布的</a:t>
            </a:r>
            <a:r>
              <a:rPr lang="en-US" altLang="zh-CN">
                <a:sym typeface="+mn-ea"/>
              </a:rPr>
              <a:t>1GHz</a:t>
            </a:r>
            <a:r>
              <a:rPr lang="zh-CN" altLang="en-US">
                <a:sym typeface="+mn-ea"/>
              </a:rPr>
              <a:t>时钟</a:t>
            </a:r>
            <a:r>
              <a:rPr lang="en-US" altLang="zh-CN">
                <a:sym typeface="+mn-ea"/>
              </a:rPr>
              <a:t> 1/16</a:t>
            </a:r>
            <a:r>
              <a:rPr lang="zh-CN" altLang="en-US">
                <a:sym typeface="+mn-ea"/>
              </a:rPr>
              <a:t>占空比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790305" cy="61074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01215" y="3308985"/>
            <a:ext cx="6892925" cy="2592070"/>
          </a:xfrm>
          <a:prstGeom prst="rect">
            <a:avLst/>
          </a:prstGeom>
          <a:noFill/>
          <a:ln w="5715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90050" y="4421505"/>
            <a:ext cx="1913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子路采样结果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074150" y="2491105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ADC</a:t>
            </a:r>
            <a:r>
              <a:rPr lang="zh-CN" altLang="en-US"/>
              <a:t>的输入</a:t>
            </a:r>
            <a:r>
              <a:rPr lang="en-US" altLang="zh-CN"/>
              <a:t> </a:t>
            </a:r>
            <a:r>
              <a:rPr lang="en-US" altLang="zh-CN"/>
              <a:t>Vin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3840"/>
            <a:ext cx="12192000" cy="636968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4927600" y="4040505"/>
            <a:ext cx="2058035" cy="63754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702175" y="4237990"/>
            <a:ext cx="1378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延迟</a:t>
            </a:r>
            <a:r>
              <a:rPr lang="en-US" altLang="zh-CN">
                <a:solidFill>
                  <a:srgbClr val="FF0000"/>
                </a:solidFill>
              </a:rPr>
              <a:t>140ns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316230"/>
            <a:ext cx="8867140" cy="1168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" y="1484630"/>
            <a:ext cx="9182100" cy="3505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024745" y="485775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ref</a:t>
            </a:r>
            <a:r>
              <a:rPr lang="zh-CN" altLang="en-US"/>
              <a:t>时钟的输入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952990" y="3674110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PLL</a:t>
            </a:r>
            <a:r>
              <a:rPr lang="zh-CN" altLang="en-US"/>
              <a:t>的</a:t>
            </a:r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702165" y="1898015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ref</a:t>
            </a:r>
            <a:r>
              <a:rPr lang="zh-CN" altLang="en-US"/>
              <a:t>时钟的输入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836795" y="5700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接口控制部分还需</a:t>
            </a:r>
            <a:r>
              <a:rPr lang="zh-CN" altLang="en-US"/>
              <a:t>完善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葛良晨</a:t>
            </a:r>
            <a:r>
              <a:rPr lang="en-US" altLang="zh-CN"/>
              <a:t> 2026-7-23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94005" y="374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内网</a:t>
            </a:r>
            <a:r>
              <a:rPr lang="en-US" altLang="zh-CN"/>
              <a:t>AI LLM</a:t>
            </a:r>
            <a:r>
              <a:rPr lang="zh-CN" altLang="en-US"/>
              <a:t>部署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15340" y="958215"/>
          <a:ext cx="105613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785"/>
                <a:gridCol w="1844040"/>
                <a:gridCol w="2148205"/>
                <a:gridCol w="46062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系统版本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Driver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vLLM</a:t>
                      </a:r>
                      <a:r>
                        <a:rPr lang="zh-CN" altLang="en-US"/>
                        <a:t>版本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情况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Ubuntu 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595</a:t>
                      </a:r>
                      <a:r>
                        <a:rPr lang="zh-CN" altLang="en-US" sz="1800">
                          <a:sym typeface="+mn-ea"/>
                        </a:rPr>
                        <a:t>，</a:t>
                      </a:r>
                      <a:r>
                        <a:rPr lang="en-US" altLang="zh-CN" sz="1800">
                          <a:sym typeface="+mn-ea"/>
                        </a:rPr>
                        <a:t>580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latest，v0.10，</a:t>
                      </a:r>
                      <a:r>
                        <a:rPr lang="en-US" altLang="zh-CN"/>
                        <a:t>v0.20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失败，</a:t>
                      </a:r>
                      <a:r>
                        <a:rPr lang="en-US" altLang="zh-CN"/>
                        <a:t>AcceleratorError: CUDA error: unspecified launch failure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Ubuntu 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595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580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 535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v0.5，v0.10，0.20，</a:t>
                      </a:r>
                      <a:r>
                        <a:rPr lang="en-US" altLang="zh-CN"/>
                        <a:t>latest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失败，</a:t>
                      </a:r>
                      <a:r>
                        <a:rPr lang="en-US" altLang="zh-CN"/>
                        <a:t>same erro</a:t>
                      </a:r>
                      <a:r>
                        <a:rPr lang="en-US" altLang="zh-CN"/>
                        <a:t>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个人</a:t>
                      </a:r>
                      <a:r>
                        <a:rPr lang="en-US" altLang="zh-CN"/>
                        <a:t>Ubuntu 24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RTX 2060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595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v0.20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成功运行</a:t>
                      </a:r>
                      <a:r>
                        <a:rPr lang="en-US" altLang="zh-CN"/>
                        <a:t>0.6B</a:t>
                      </a:r>
                      <a:r>
                        <a:rPr lang="en-US" altLang="zh-CN"/>
                        <a:t>demo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4560"/>
            <a:ext cx="12192000" cy="853440"/>
          </a:xfrm>
          <a:prstGeom prst="rect">
            <a:avLst/>
          </a:prstGeom>
        </p:spPr>
      </p:pic>
      <p:sp>
        <p:nvSpPr>
          <p:cNvPr id="10" name="下箭头 9"/>
          <p:cNvSpPr/>
          <p:nvPr/>
        </p:nvSpPr>
        <p:spPr>
          <a:xfrm>
            <a:off x="5478780" y="3433445"/>
            <a:ext cx="833120" cy="95694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841240" y="4390390"/>
            <a:ext cx="2377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服务器</a:t>
            </a:r>
            <a:r>
              <a:rPr lang="zh-CN" altLang="en-US">
                <a:solidFill>
                  <a:srgbClr val="FF0000"/>
                </a:solidFill>
              </a:rPr>
              <a:t>硬件</a:t>
            </a:r>
            <a:r>
              <a:rPr lang="zh-CN" altLang="en-US"/>
              <a:t>故障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4390390"/>
            <a:ext cx="4826000" cy="1537970"/>
          </a:xfrm>
          <a:prstGeom prst="rect">
            <a:avLst/>
          </a:prstGeom>
        </p:spPr>
      </p:pic>
      <p:pic>
        <p:nvPicPr>
          <p:cNvPr id="24" name="图片 23" descr="对号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5080" y="2705735"/>
            <a:ext cx="636905" cy="636905"/>
          </a:xfrm>
          <a:prstGeom prst="rect">
            <a:avLst/>
          </a:prstGeom>
        </p:spPr>
      </p:pic>
      <p:pic>
        <p:nvPicPr>
          <p:cNvPr id="15" name="图片 14" descr="叉号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5745" y="2009775"/>
            <a:ext cx="500380" cy="500380"/>
          </a:xfrm>
          <a:prstGeom prst="rect">
            <a:avLst/>
          </a:prstGeom>
        </p:spPr>
      </p:pic>
      <p:pic>
        <p:nvPicPr>
          <p:cNvPr id="16" name="图片 15" descr="叉号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155" y="1426845"/>
            <a:ext cx="500380" cy="5003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TABLE_ENDDRAG_ORIGIN_RECT" val="689*320"/>
  <p:tag name="TABLE_ENDDRAG_RECT" val="96*120*689*320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文字</Application>
  <PresentationFormat>宽屏</PresentationFormat>
  <Paragraphs>100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苹方-简</vt:lpstr>
      <vt:lpstr>汉仪书宋二KW</vt:lpstr>
      <vt:lpstr>Apple Color Emoji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良辰</cp:lastModifiedBy>
  <cp:revision>169</cp:revision>
  <dcterms:created xsi:type="dcterms:W3CDTF">2026-07-23T07:05:45Z</dcterms:created>
  <dcterms:modified xsi:type="dcterms:W3CDTF">2026-07-23T07:05:45Z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C3143D10BDEA3A3724AE616A1E5177E7_43</vt:lpwstr>
  </property>
</Properties>
</file>