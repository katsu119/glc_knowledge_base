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6" r:id="rId4"/>
    <p:sldId id="258" r:id="rId5"/>
    <p:sldId id="259" r:id="rId6"/>
    <p:sldId id="260" r:id="rId7"/>
    <p:sldId id="262" r:id="rId8"/>
    <p:sldId id="261" r:id="rId9"/>
    <p:sldId id="263" r:id="rId10"/>
    <p:sldId id="272" r:id="rId11"/>
    <p:sldId id="279" r:id="rId12"/>
    <p:sldId id="280" r:id="rId13"/>
    <p:sldId id="281" r:id="rId14"/>
    <p:sldId id="282" r:id="rId15"/>
    <p:sldId id="26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6C0F0-A008-1A11-261B-2D2A1610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CA70CE-EDD4-9C20-4EDA-36163638B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094AA4-0137-039D-107C-984A644E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CA7D6-5A3A-1873-FA59-EB83A8DC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2919D-1627-7614-65DD-522FFC2C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77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25E82-1E89-FD18-EE7A-C8650D6D5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1603A-4388-DD65-0A59-E56A17D4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1CFB7-325F-7164-DACB-C7A476F7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DA27D-4720-4930-802C-212C5484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F96613-4CFE-BA6A-E3E8-6DAB4618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0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26B31-E2AE-F35C-99DC-DEE0F55A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75713-44B7-9570-812E-09FC86EE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67016-25A9-A0E0-06B0-59BDCC62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0A792-CCFE-2BA9-D2C1-3BCD9C04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53F94-C0B0-6733-183F-6090FE33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48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8B1C2-976F-E3B8-0D7E-D0A2B9BC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DE7DF-B9DF-C625-E347-DDEAF3C7E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8428F8-370F-FBAE-08D1-3167C8B4D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94EF88-1965-B179-8575-60D92016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527A16-389A-F256-02BF-489E65AB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01C334-5EDD-2A10-3C9C-07E2977B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87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2A893-6EF3-120F-A15C-040D4316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636CE0-DC1A-54C4-1694-69037C191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9FFC9E-A357-8782-7276-59852D69B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540D02-994F-BE8F-9AD6-CDC8CA9CF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F69891-EEAA-9599-FEEA-FFC6E7671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4EAFB3-FA68-6E34-DF82-BEA3E0CB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99F0C4-AFAE-B3F9-B469-33405835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9EF49D-5E2F-2378-975B-A1EA0FCE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19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1946F-7CDA-59CF-924D-C312DD38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825174-7E7C-F36E-3A90-6539F0F6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D34280-6DB5-4A99-88EA-01939072E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776211-9C74-F6D2-2B9C-B4093E5C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0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1BE5A2-12E7-A97F-C006-D8F440F6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FA0812-E603-D68C-4C19-FCE0A581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C9413-BB2E-FA3C-9E38-DC073807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82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43ED4-9937-96BE-1995-A7B269F3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3C806-20BB-7247-896F-4C825E60D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A84224-0544-B705-3DDF-982F6007F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11BF37-775A-5D50-B2E8-1F9482F0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AA8B52-43BB-0A8C-D6DA-056B34045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82C626-1FCD-D0A3-74C3-3942BF44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51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2A968-661B-D4B3-35D3-06DB8D3F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FBCAF8-13DF-A7FF-9B1E-8594953E7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91F163-1648-F16B-C4A9-F5B350094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F7DD8D-46DB-5570-7DC8-F42D991D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43744F-890D-B370-DD7F-3D651553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140641-BEEA-CBD0-1BE1-5F44DB61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02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3C0D-E5BD-5F63-27EA-87A72BB3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49DA52-ACD9-5293-3464-52FF88A0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90041-7366-6831-3146-7ABF1A1C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DF521-92ED-B978-6195-893C3933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B2815-6455-2093-E947-3E6B570B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84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304FBC-1A3F-51C6-D4A8-1F2C88648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24EE31-BB70-8331-50BF-B9B5F6F2D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DFF42-9EB0-2059-9012-EFB2A2CC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40285-DBDC-40AD-7C0F-48646B1B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8B856-0A98-C3B0-567F-D26BB952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13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629D98-95F8-DB4E-BC6E-2570CDA2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CF4177-B371-794E-771C-544905828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40C1D-81A7-0CE6-B71D-7F3BFE8C1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98523-749D-4F5E-8AAA-5A97395613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C33D8C-018A-C0C2-C2DF-840F008DE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98EE3-3476-CE72-504F-C13FE1FE9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33E9B-F981-47A6-9DBE-EA23912A1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97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.gov/Archives/edgar/data/1736297/000119312524069611/d285484ds1a.htm" TargetMode="External"/><Relationship Id="rId2" Type="http://schemas.openxmlformats.org/officeDocument/2006/relationships/hyperlink" Target="https://www.sec.gov/Archives/edgar/data/1736297/000119312524040419/d285484ds1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ec.gov/Archives/edgar/data/1736297/000173629726000010/alab-20251231.htm" TargetMode="External"/><Relationship Id="rId4" Type="http://schemas.openxmlformats.org/officeDocument/2006/relationships/hyperlink" Target="https://www.sec.gov/Archives/edgar/data/1736297/000173629725000003/alab-20241231.ht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y.com/en_us/entrepreneur-of-the-year-us/meet-the-winners-and-finalists/jitendra-mohan-sanjay-gajendra-casey-morrison-astera-lab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rbes.com.au/news/entrepreneurs/forbes-next-billion-dollar-startups-list-has-accurately-predicted-100-unicorns-in-10-year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stera_Lab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newswire.com/news-releases/astera-labs-accelerates-pci-express-5-0-system-deployment-in-collaboration-with-intel-and-synopsys-300943777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newswire.com/news-releases/synopsys-announces-industrys-first-ultra-ethernet-and-ualink-ip-solutions-to-connect-massive-ai-accelerator-clusters-302328392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99167-14DF-CF6C-3307-128536AA1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95505"/>
          </a:xfrm>
        </p:spPr>
        <p:txBody>
          <a:bodyPr>
            <a:normAutofit/>
          </a:bodyPr>
          <a:lstStyle/>
          <a:p>
            <a:r>
              <a:rPr lang="zh-CN" altLang="en-US" dirty="0"/>
              <a:t>美国证监会（</a:t>
            </a:r>
            <a:r>
              <a:rPr lang="en-US" altLang="zh-CN" dirty="0"/>
              <a:t>SEC</a:t>
            </a:r>
            <a:r>
              <a:rPr lang="zh-CN" altLang="en-US" dirty="0"/>
              <a:t>）</a:t>
            </a:r>
            <a:r>
              <a:rPr lang="en-US" altLang="zh-CN" dirty="0"/>
              <a:t>S-1 </a:t>
            </a:r>
            <a:r>
              <a:rPr lang="zh-CN" altLang="en-US" dirty="0"/>
              <a:t>招股说明书 </a:t>
            </a:r>
            <a:r>
              <a:rPr lang="en-US" altLang="zh-CN" dirty="0"/>
              <a:t>(</a:t>
            </a:r>
            <a:r>
              <a:rPr lang="zh-CN" altLang="en-US" dirty="0"/>
              <a:t>法律</a:t>
            </a:r>
            <a:r>
              <a:rPr lang="en-US" altLang="zh-CN" dirty="0"/>
              <a:t>/</a:t>
            </a:r>
            <a:r>
              <a:rPr lang="zh-CN" altLang="en-US" dirty="0"/>
              <a:t>商业证明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25</a:t>
            </a:r>
            <a:r>
              <a:rPr lang="zh-CN" altLang="en-US" dirty="0"/>
              <a:t>财年财报</a:t>
            </a:r>
          </a:p>
        </p:txBody>
      </p:sp>
    </p:spTree>
    <p:extLst>
      <p:ext uri="{BB962C8B-B14F-4D97-AF65-F5344CB8AC3E}">
        <p14:creationId xmlns:p14="http://schemas.microsoft.com/office/powerpoint/2010/main" val="147497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367CF-9675-940D-0E5C-E28599D6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ALAB S-1 </a:t>
            </a:r>
            <a:r>
              <a:rPr lang="zh-CN" altLang="en-US" dirty="0"/>
              <a:t>招股说明书</a:t>
            </a:r>
            <a:r>
              <a:rPr lang="en-US" altLang="zh-CN" dirty="0"/>
              <a:t>/</a:t>
            </a:r>
            <a:r>
              <a:rPr lang="zh-CN" altLang="en-US" dirty="0"/>
              <a:t>年报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26ABB-D14D-3477-84A4-DBE17BF2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82" y="1522238"/>
            <a:ext cx="11205362" cy="157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S-1</a:t>
            </a:r>
            <a:r>
              <a:rPr lang="zh-CN" altLang="en-US" sz="1800" dirty="0"/>
              <a:t>初始版</a:t>
            </a:r>
            <a:r>
              <a:rPr lang="en-US" altLang="zh-CN" sz="1800" dirty="0">
                <a:hlinkClick r:id="rId2"/>
              </a:rPr>
              <a:t>https://www.sec.gov/Archives/edgar/data/1736297/000119312524040419/d285484ds1.htm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S-1</a:t>
            </a:r>
            <a:r>
              <a:rPr lang="zh-CN" altLang="en-US" sz="1800" dirty="0"/>
              <a:t>修订版</a:t>
            </a:r>
            <a:r>
              <a:rPr lang="en-US" altLang="zh-CN" sz="1800" dirty="0">
                <a:hlinkClick r:id="rId3"/>
              </a:rPr>
              <a:t>https://www.sec.gov/Archives/edgar/data/1736297/000119312524069611/d285484ds1a.htm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24</a:t>
            </a:r>
            <a:r>
              <a:rPr lang="zh-CN" altLang="en-US" sz="1800" dirty="0"/>
              <a:t>财年年报</a:t>
            </a:r>
            <a:r>
              <a:rPr lang="en-US" altLang="zh-CN" sz="1800" dirty="0">
                <a:hlinkClick r:id="rId4"/>
              </a:rPr>
              <a:t>https://www.sec.gov/Archives/edgar/data/1736297/000173629725000003/alab-20241231.htm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25</a:t>
            </a:r>
            <a:r>
              <a:rPr lang="zh-CN" altLang="en-US" sz="1800" dirty="0"/>
              <a:t>财年年报</a:t>
            </a:r>
            <a:r>
              <a:rPr lang="en-US" altLang="zh-CN" sz="1800" dirty="0">
                <a:hlinkClick r:id="rId5"/>
              </a:rPr>
              <a:t>https://www.sec.gov/Archives/edgar/data/1736297/000173629726000010/alab-20251231.htm</a:t>
            </a:r>
            <a:endParaRPr lang="en-US" altLang="zh-CN" sz="1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1C36D4-95B1-6817-C1EC-CF9B387982E4}"/>
              </a:ext>
            </a:extLst>
          </p:cNvPr>
          <p:cNvSpPr txBox="1"/>
          <p:nvPr/>
        </p:nvSpPr>
        <p:spPr>
          <a:xfrm>
            <a:off x="695269" y="3323195"/>
            <a:ext cx="10335451" cy="332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证据来源： </a:t>
            </a:r>
            <a:r>
              <a:rPr lang="en-US" altLang="zh-CN" sz="2800" dirty="0"/>
              <a:t>2024</a:t>
            </a:r>
            <a:r>
              <a:rPr lang="zh-CN" altLang="en-US" sz="2800" dirty="0"/>
              <a:t>年</a:t>
            </a:r>
            <a:r>
              <a:rPr lang="en-US" altLang="zh-CN" sz="2800" dirty="0"/>
              <a:t>3</a:t>
            </a:r>
            <a:r>
              <a:rPr lang="zh-CN" altLang="en-US" sz="2800" dirty="0"/>
              <a:t>月，</a:t>
            </a:r>
            <a:r>
              <a:rPr lang="en-US" altLang="zh-CN" sz="2800" dirty="0" err="1"/>
              <a:t>Astera</a:t>
            </a:r>
            <a:r>
              <a:rPr lang="en-US" altLang="zh-CN" sz="2800" dirty="0"/>
              <a:t> Labs </a:t>
            </a:r>
            <a:r>
              <a:rPr lang="zh-CN" altLang="en-US" sz="2800" dirty="0"/>
              <a:t>向美国 </a:t>
            </a:r>
            <a:r>
              <a:rPr lang="en-US" altLang="zh-CN" sz="2800" dirty="0"/>
              <a:t>SEC </a:t>
            </a:r>
            <a:r>
              <a:rPr lang="zh-CN" altLang="en-US" sz="2800" dirty="0"/>
              <a:t>提交的用于纳斯达克 </a:t>
            </a:r>
            <a:r>
              <a:rPr lang="en-US" altLang="zh-CN" sz="2800" dirty="0"/>
              <a:t>IPO </a:t>
            </a:r>
            <a:r>
              <a:rPr lang="zh-CN" altLang="en-US" sz="2800" dirty="0"/>
              <a:t>的 </a:t>
            </a:r>
            <a:r>
              <a:rPr lang="en-US" altLang="zh-CN" sz="2800" dirty="0"/>
              <a:t>S-1 </a:t>
            </a:r>
            <a:r>
              <a:rPr lang="zh-CN" altLang="en-US" sz="2800" dirty="0"/>
              <a:t>招股说明书（股票代码：</a:t>
            </a:r>
            <a:r>
              <a:rPr lang="en-US" altLang="zh-CN" sz="2800" dirty="0"/>
              <a:t>ALAB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证明内容： 在 </a:t>
            </a:r>
            <a:r>
              <a:rPr lang="en-US" altLang="zh-CN" sz="2800" dirty="0"/>
              <a:t>S-1 </a:t>
            </a:r>
            <a:r>
              <a:rPr lang="zh-CN" altLang="en-US" sz="2800" dirty="0"/>
              <a:t>文件的“公司概览”中，</a:t>
            </a:r>
            <a:r>
              <a:rPr lang="en-US" altLang="zh-CN" sz="2800" dirty="0" err="1"/>
              <a:t>Astera</a:t>
            </a:r>
            <a:r>
              <a:rPr lang="en-US" altLang="zh-CN" sz="2800" dirty="0"/>
              <a:t> Labs </a:t>
            </a:r>
            <a:r>
              <a:rPr lang="zh-CN" altLang="en-US" sz="2800" dirty="0"/>
              <a:t>在法律上明确将自身定义为 “无晶圆厂半导体公司 </a:t>
            </a:r>
            <a:r>
              <a:rPr lang="en-US" altLang="zh-CN" sz="2800" dirty="0"/>
              <a:t>(Fabless semiconductor company)”</a:t>
            </a:r>
            <a:r>
              <a:rPr lang="zh-CN" altLang="en-US" sz="2800" dirty="0"/>
              <a:t>。文件披露了他们在</a:t>
            </a:r>
            <a:r>
              <a:rPr lang="en-US" altLang="zh-CN" sz="2800" dirty="0"/>
              <a:t>2017</a:t>
            </a:r>
            <a:r>
              <a:rPr lang="zh-CN" altLang="en-US" sz="2800" dirty="0"/>
              <a:t>年从车库起步，初始资金直接投入到底层连通性硅片研发的过程，从法律层面证明了他们没有经历过“买别人芯片做外围板卡集成”的过渡期，第一天就是纯正的芯片设计原厂。</a:t>
            </a:r>
          </a:p>
        </p:txBody>
      </p:sp>
    </p:spTree>
    <p:extLst>
      <p:ext uri="{BB962C8B-B14F-4D97-AF65-F5344CB8AC3E}">
        <p14:creationId xmlns:p14="http://schemas.microsoft.com/office/powerpoint/2010/main" val="265804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99167-14DF-CF6C-3307-128536AA1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创始人履历与德州仪器（</a:t>
            </a:r>
            <a:r>
              <a:rPr lang="en-US" altLang="zh-CN" dirty="0"/>
              <a:t>TI</a:t>
            </a:r>
            <a:r>
              <a:rPr lang="zh-CN" altLang="en-US" dirty="0"/>
              <a:t>）基因的权威报道</a:t>
            </a:r>
          </a:p>
        </p:txBody>
      </p:sp>
    </p:spTree>
    <p:extLst>
      <p:ext uri="{BB962C8B-B14F-4D97-AF65-F5344CB8AC3E}">
        <p14:creationId xmlns:p14="http://schemas.microsoft.com/office/powerpoint/2010/main" val="260195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EE2CD-0069-CD6D-3081-3A71CAA2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安永 </a:t>
            </a:r>
            <a:r>
              <a:rPr lang="en-US" altLang="zh-CN" dirty="0"/>
              <a:t>(EY) </a:t>
            </a:r>
            <a:r>
              <a:rPr lang="zh-CN" altLang="en-US" dirty="0"/>
              <a:t>年度企业家奖官方新闻稿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70145-D4C7-56D4-4401-F991F5AEF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报道名称：</a:t>
            </a:r>
            <a:r>
              <a:rPr lang="en-US" altLang="zh-CN" dirty="0"/>
              <a:t>Entrepreneur Of The Year 2025 award winners - Jitendra Mohan, Sanjay Gajendra and Casey Morrison  </a:t>
            </a:r>
          </a:p>
          <a:p>
            <a:r>
              <a:rPr lang="zh-CN" altLang="en-US" dirty="0"/>
              <a:t>链接：</a:t>
            </a:r>
            <a:r>
              <a:rPr lang="en-US" altLang="zh-CN" dirty="0">
                <a:hlinkClick r:id="rId2"/>
              </a:rPr>
              <a:t>https://www.ey.com/en_us/entrepreneur-of-the-year-us/meet-the-winners-and-finalists/jitendra-mohan-sanjay-gajendra-casey-morrison-astera-labs</a:t>
            </a:r>
            <a:endParaRPr lang="en-US" altLang="zh-CN" dirty="0"/>
          </a:p>
          <a:p>
            <a:r>
              <a:rPr lang="zh-CN" altLang="en-US" dirty="0"/>
              <a:t>印证内容：官方新闻稿中明确记载，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的三位联合创始人在共同供职于德州仪器（</a:t>
            </a:r>
            <a:r>
              <a:rPr lang="en-US" altLang="zh-CN" dirty="0"/>
              <a:t>Texas Instruments</a:t>
            </a:r>
            <a:r>
              <a:rPr lang="zh-CN" altLang="en-US" dirty="0"/>
              <a:t>）期间相识。他们看到了支持 </a:t>
            </a:r>
            <a:r>
              <a:rPr lang="en-US" altLang="zh-CN" dirty="0"/>
              <a:t>AI </a:t>
            </a:r>
            <a:r>
              <a:rPr lang="zh-CN" altLang="en-US" dirty="0"/>
              <a:t>工作负载的连接解决方案在市场上存在巨大空白，随后离职创办了该公司。这三位创始人后续还凭借该成就斩获了 </a:t>
            </a:r>
            <a:r>
              <a:rPr lang="en-US" altLang="zh-CN" dirty="0"/>
              <a:t>2026 </a:t>
            </a:r>
            <a:r>
              <a:rPr lang="zh-CN" altLang="en-US" dirty="0"/>
              <a:t>年度的安永全球企业家大奖（</a:t>
            </a:r>
            <a:r>
              <a:rPr lang="en-US" altLang="zh-CN" dirty="0"/>
              <a:t>EY World Entrepreneur Of The Year 2026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75669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584C1-DB51-F3C5-8492-FC59B97D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福布斯</a:t>
            </a:r>
            <a:r>
              <a:rPr lang="en-US" altLang="zh-CN" dirty="0"/>
              <a:t>》(Forbes) </a:t>
            </a:r>
            <a:r>
              <a:rPr lang="zh-CN" altLang="en-US" dirty="0"/>
              <a:t>商业报道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D24396-ECE1-4A6A-0FD8-CB1B3B33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报道名称：</a:t>
            </a:r>
            <a:r>
              <a:rPr lang="en-US" altLang="zh-CN" dirty="0"/>
              <a:t>Forbes next billion-dollar startups list has accurately predicted 100+ unicorns in 10 years  </a:t>
            </a:r>
          </a:p>
          <a:p>
            <a:r>
              <a:rPr lang="zh-CN" altLang="en-US" dirty="0"/>
              <a:t>链接：</a:t>
            </a:r>
            <a:r>
              <a:rPr lang="en-US" altLang="zh-CN" dirty="0">
                <a:hlinkClick r:id="rId2"/>
              </a:rPr>
              <a:t>https://www.forbes.com.au/news/entrepreneurs/forbes-next-billion-dollar-startups-list-has-accurately-predicted-100-unicorns-in-10-years/</a:t>
            </a:r>
            <a:endParaRPr lang="en-US" altLang="zh-CN" dirty="0"/>
          </a:p>
          <a:p>
            <a:r>
              <a:rPr lang="zh-CN" altLang="en-US" dirty="0"/>
              <a:t>印证内容：报道中指出，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的创始人作为首次创业者，此前均在德州仪器（</a:t>
            </a:r>
            <a:r>
              <a:rPr lang="en-US" altLang="zh-CN" dirty="0"/>
              <a:t>Texas Instruments</a:t>
            </a:r>
            <a:r>
              <a:rPr lang="zh-CN" altLang="en-US" dirty="0"/>
              <a:t>）工作。他们坚信现有的 </a:t>
            </a:r>
            <a:r>
              <a:rPr lang="en-US" altLang="zh-CN" dirty="0"/>
              <a:t>GPU </a:t>
            </a:r>
            <a:r>
              <a:rPr lang="zh-CN" altLang="en-US" dirty="0"/>
              <a:t>和 </a:t>
            </a:r>
            <a:r>
              <a:rPr lang="en-US" altLang="zh-CN" dirty="0"/>
              <a:t>AI </a:t>
            </a:r>
            <a:r>
              <a:rPr lang="zh-CN" altLang="en-US" dirty="0"/>
              <a:t>芯片连接方式无法跟上人工智能的进步步伐，以此为初衷创立了该公司。</a:t>
            </a:r>
          </a:p>
        </p:txBody>
      </p:sp>
    </p:spTree>
    <p:extLst>
      <p:ext uri="{BB962C8B-B14F-4D97-AF65-F5344CB8AC3E}">
        <p14:creationId xmlns:p14="http://schemas.microsoft.com/office/powerpoint/2010/main" val="141659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F04CD-482B-069A-CA96-594D2887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维基百科官方词条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38FA4-935A-2251-ED17-4399C5BA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资料名称：</a:t>
            </a:r>
            <a:r>
              <a:rPr lang="en-US" altLang="zh-CN" dirty="0" err="1"/>
              <a:t>Astera</a:t>
            </a:r>
            <a:r>
              <a:rPr lang="en-US" altLang="zh-CN" dirty="0"/>
              <a:t> Labs - Wikipedia  </a:t>
            </a:r>
          </a:p>
          <a:p>
            <a:r>
              <a:rPr lang="zh-CN" altLang="en-US" dirty="0"/>
              <a:t>链接：</a:t>
            </a:r>
            <a:r>
              <a:rPr lang="en-US" altLang="zh-CN" dirty="0">
                <a:hlinkClick r:id="rId2"/>
              </a:rPr>
              <a:t>https://en.wikipedia.org/wiki/Astera_Labs</a:t>
            </a:r>
            <a:endParaRPr lang="en-US" altLang="zh-CN" dirty="0"/>
          </a:p>
          <a:p>
            <a:r>
              <a:rPr lang="zh-CN" altLang="en-US" dirty="0"/>
              <a:t>印证内容：记录了公司于 </a:t>
            </a:r>
            <a:r>
              <a:rPr lang="en-US" altLang="zh-CN" dirty="0"/>
              <a:t>2017 </a:t>
            </a:r>
            <a:r>
              <a:rPr lang="zh-CN" altLang="en-US" dirty="0"/>
              <a:t>年创立的历史，指出三位创始人在德州仪器工作期间，观察到现存数据中心的连接技术未跟上机器学习的演进，从而辞职并在车库里启动了这家初创公司。</a:t>
            </a:r>
          </a:p>
        </p:txBody>
      </p:sp>
    </p:spTree>
    <p:extLst>
      <p:ext uri="{BB962C8B-B14F-4D97-AF65-F5344CB8AC3E}">
        <p14:creationId xmlns:p14="http://schemas.microsoft.com/office/powerpoint/2010/main" val="333125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99167-14DF-CF6C-3307-128536AA1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新思科技（</a:t>
            </a:r>
            <a:r>
              <a:rPr lang="en-US" altLang="zh-CN" dirty="0"/>
              <a:t>Synopsys</a:t>
            </a:r>
            <a:r>
              <a:rPr lang="zh-CN" altLang="en-US" dirty="0"/>
              <a:t>）关于 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外购核心接口 </a:t>
            </a:r>
            <a:r>
              <a:rPr lang="en-US" altLang="zh-CN" dirty="0"/>
              <a:t>IP </a:t>
            </a:r>
            <a:r>
              <a:rPr lang="zh-CN" altLang="en-US" dirty="0"/>
              <a:t>的官方公告</a:t>
            </a:r>
          </a:p>
        </p:txBody>
      </p:sp>
    </p:spTree>
    <p:extLst>
      <p:ext uri="{BB962C8B-B14F-4D97-AF65-F5344CB8AC3E}">
        <p14:creationId xmlns:p14="http://schemas.microsoft.com/office/powerpoint/2010/main" val="324191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0C635-EB33-558B-5773-1C53D9B5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首次流片使用 </a:t>
            </a:r>
            <a:r>
              <a:rPr lang="en-US" altLang="zh-CN" dirty="0"/>
              <a:t>Synopsys IP </a:t>
            </a:r>
            <a:r>
              <a:rPr lang="zh-CN" altLang="en-US" dirty="0"/>
              <a:t>的成功官宣（</a:t>
            </a:r>
            <a:r>
              <a:rPr lang="en-US" altLang="zh-CN" dirty="0"/>
              <a:t>2019</a:t>
            </a:r>
            <a:r>
              <a:rPr lang="zh-CN" altLang="en-US" dirty="0"/>
              <a:t>年）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61AE1-9B73-C83C-2912-F83263B65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报道名称：</a:t>
            </a:r>
            <a:r>
              <a:rPr lang="en-US" altLang="zh-CN" dirty="0" err="1"/>
              <a:t>Astera</a:t>
            </a:r>
            <a:r>
              <a:rPr lang="en-US" altLang="zh-CN" dirty="0"/>
              <a:t> Labs Accelerates PCI Express 5.0 System Deployment in Collaboration with Intel and Synopsys  </a:t>
            </a:r>
          </a:p>
          <a:p>
            <a:r>
              <a:rPr lang="zh-CN" altLang="en-US" dirty="0"/>
              <a:t>链接：</a:t>
            </a:r>
            <a:r>
              <a:rPr lang="en-US" altLang="zh-CN" dirty="0">
                <a:hlinkClick r:id="rId2"/>
              </a:rPr>
              <a:t>https://www.prnewswire.com/news-releases/astera-labs-accelerates-pci-express-5-0-system-deployment-in-collaboration-with-intel-and-synopsys-300943777.html</a:t>
            </a:r>
            <a:endParaRPr lang="en-US" altLang="zh-CN" dirty="0"/>
          </a:p>
          <a:p>
            <a:r>
              <a:rPr lang="zh-CN" altLang="en-US" dirty="0"/>
              <a:t>印证内容：这是其“自研数字核心 </a:t>
            </a:r>
            <a:r>
              <a:rPr lang="en-US" altLang="zh-CN" dirty="0"/>
              <a:t>+ </a:t>
            </a:r>
            <a:r>
              <a:rPr lang="zh-CN" altLang="en-US" dirty="0"/>
              <a:t>外购物理层接口 </a:t>
            </a:r>
            <a:r>
              <a:rPr lang="en-US" altLang="zh-CN" dirty="0"/>
              <a:t>IP”</a:t>
            </a:r>
            <a:r>
              <a:rPr lang="zh-CN" altLang="en-US" dirty="0"/>
              <a:t>的最核心商业证明。新闻稿中由 </a:t>
            </a:r>
            <a:r>
              <a:rPr lang="en-US" altLang="zh-CN" dirty="0"/>
              <a:t>Synopsys </a:t>
            </a:r>
            <a:r>
              <a:rPr lang="zh-CN" altLang="en-US" dirty="0"/>
              <a:t>官方宣布，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使用了 </a:t>
            </a:r>
            <a:r>
              <a:rPr lang="en-US" altLang="zh-CN" dirty="0"/>
              <a:t>Synopsys </a:t>
            </a:r>
            <a:r>
              <a:rPr lang="zh-CN" altLang="en-US" dirty="0"/>
              <a:t>的 </a:t>
            </a:r>
            <a:r>
              <a:rPr lang="en-US" altLang="zh-CN" dirty="0"/>
              <a:t>PCIe 5.0 </a:t>
            </a:r>
            <a:r>
              <a:rPr lang="en-US" altLang="zh-CN" dirty="0" err="1"/>
              <a:t>DesignWare</a:t>
            </a:r>
            <a:r>
              <a:rPr lang="en-US" altLang="zh-CN" dirty="0"/>
              <a:t> IP </a:t>
            </a:r>
            <a:r>
              <a:rPr lang="zh-CN" altLang="en-US" dirty="0"/>
              <a:t>和验证 </a:t>
            </a:r>
            <a:r>
              <a:rPr lang="en-US" altLang="zh-CN" dirty="0"/>
              <a:t>IP</a:t>
            </a:r>
            <a:r>
              <a:rPr lang="zh-CN" altLang="en-US" dirty="0"/>
              <a:t>（</a:t>
            </a:r>
            <a:r>
              <a:rPr lang="en-US" altLang="zh-CN" dirty="0"/>
              <a:t>Verification IP</a:t>
            </a:r>
            <a:r>
              <a:rPr lang="zh-CN" altLang="en-US" dirty="0"/>
              <a:t>）解决方案，成功实现了其智能重定时器（</a:t>
            </a:r>
            <a:r>
              <a:rPr lang="en-US" altLang="zh-CN" dirty="0"/>
              <a:t>Smart </a:t>
            </a:r>
            <a:r>
              <a:rPr lang="en-US" altLang="zh-CN" dirty="0" err="1"/>
              <a:t>Retimer</a:t>
            </a:r>
            <a:r>
              <a:rPr lang="en-US" altLang="zh-CN" dirty="0"/>
              <a:t> SoC</a:t>
            </a:r>
            <a:r>
              <a:rPr lang="zh-CN" altLang="en-US" dirty="0"/>
              <a:t>）的首次流片即成功 </a:t>
            </a:r>
            <a:r>
              <a:rPr lang="en-US" altLang="zh-CN" dirty="0"/>
              <a:t>(first-pass silicon success)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5429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2E32B-A629-F005-382C-4A7FF883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超高速网络与 </a:t>
            </a:r>
            <a:r>
              <a:rPr lang="en-US" altLang="zh-CN" dirty="0" err="1"/>
              <a:t>UALink</a:t>
            </a:r>
            <a:r>
              <a:rPr lang="en-US" altLang="zh-CN" dirty="0"/>
              <a:t> IP </a:t>
            </a:r>
            <a:r>
              <a:rPr lang="zh-CN" altLang="en-US" dirty="0"/>
              <a:t>的最新生态协作（</a:t>
            </a:r>
            <a:r>
              <a:rPr lang="en-US" altLang="zh-CN" dirty="0"/>
              <a:t>2024</a:t>
            </a:r>
            <a:r>
              <a:rPr lang="zh-CN" altLang="en-US" dirty="0"/>
              <a:t>年底）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11DE2-D3D9-11AC-C367-DE94F4A42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169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报道名称：</a:t>
            </a:r>
            <a:r>
              <a:rPr lang="en-US" altLang="zh-CN" dirty="0"/>
              <a:t>Synopsys Announces Industry's First Ultra Ethernet and </a:t>
            </a:r>
            <a:r>
              <a:rPr lang="en-US" altLang="zh-CN" dirty="0" err="1"/>
              <a:t>UALink</a:t>
            </a:r>
            <a:r>
              <a:rPr lang="en-US" altLang="zh-CN" dirty="0"/>
              <a:t> IP Solutions to Connect Massive AI Accelerator Clusters  </a:t>
            </a:r>
          </a:p>
          <a:p>
            <a:r>
              <a:rPr lang="zh-CN" altLang="en-US" dirty="0"/>
              <a:t>链接：</a:t>
            </a:r>
            <a:r>
              <a:rPr lang="en-US" altLang="zh-CN" dirty="0">
                <a:hlinkClick r:id="rId2"/>
              </a:rPr>
              <a:t>https://www.prnewswire.com/news-releases/synopsys-announces-industrys-first-ultra-ethernet-and-ualink-ip-solutions-to-connect-massive-ai-accelerator-clusters-302328392.html</a:t>
            </a:r>
            <a:endParaRPr lang="en-US" altLang="zh-CN" dirty="0"/>
          </a:p>
          <a:p>
            <a:r>
              <a:rPr lang="zh-CN" altLang="en-US" dirty="0"/>
              <a:t>印证内容：随着产品线向高速 </a:t>
            </a:r>
            <a:r>
              <a:rPr lang="en-US" altLang="zh-CN" dirty="0"/>
              <a:t>Fabric </a:t>
            </a:r>
            <a:r>
              <a:rPr lang="zh-CN" altLang="en-US" dirty="0"/>
              <a:t>交换芯片与线缆延伸，</a:t>
            </a:r>
            <a:r>
              <a:rPr lang="en-US" altLang="zh-CN" dirty="0"/>
              <a:t>Synopsys </a:t>
            </a:r>
            <a:r>
              <a:rPr lang="zh-CN" altLang="en-US" dirty="0"/>
              <a:t>在发布用于连接海量 </a:t>
            </a:r>
            <a:r>
              <a:rPr lang="en-US" altLang="zh-CN" dirty="0"/>
              <a:t>AI </a:t>
            </a:r>
            <a:r>
              <a:rPr lang="zh-CN" altLang="en-US" dirty="0"/>
              <a:t>加速器集群的最新 </a:t>
            </a:r>
            <a:r>
              <a:rPr lang="en-US" altLang="zh-CN" dirty="0"/>
              <a:t>Ultra Ethernet</a:t>
            </a:r>
            <a:r>
              <a:rPr lang="zh-CN" altLang="en-US" dirty="0"/>
              <a:t>（超以太网）与 </a:t>
            </a:r>
            <a:r>
              <a:rPr lang="en-US" altLang="zh-CN" dirty="0" err="1"/>
              <a:t>UALink</a:t>
            </a:r>
            <a:r>
              <a:rPr lang="en-US" altLang="zh-CN" dirty="0"/>
              <a:t> IP </a:t>
            </a:r>
            <a:r>
              <a:rPr lang="zh-CN" altLang="en-US" dirty="0"/>
              <a:t>时，明确将 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与 </a:t>
            </a:r>
            <a:r>
              <a:rPr lang="en-US" altLang="zh-CN" dirty="0"/>
              <a:t>AMD </a:t>
            </a:r>
            <a:r>
              <a:rPr lang="zh-CN" altLang="en-US" dirty="0"/>
              <a:t>等巨头并列为扩大该生态的行业领导者。稿件中直接引用了 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技术与生态系统 </a:t>
            </a:r>
            <a:r>
              <a:rPr lang="en-US" altLang="zh-CN" dirty="0"/>
              <a:t>Fellow Chris Petersen </a:t>
            </a:r>
            <a:r>
              <a:rPr lang="zh-CN" altLang="en-US" dirty="0"/>
              <a:t>对这套全新接口 </a:t>
            </a:r>
            <a:r>
              <a:rPr lang="en-US" altLang="zh-CN" dirty="0"/>
              <a:t>IP </a:t>
            </a:r>
            <a:r>
              <a:rPr lang="zh-CN" altLang="en-US" dirty="0"/>
              <a:t>方案交付的祝贺与背书。</a:t>
            </a:r>
          </a:p>
        </p:txBody>
      </p:sp>
    </p:spTree>
    <p:extLst>
      <p:ext uri="{BB962C8B-B14F-4D97-AF65-F5344CB8AC3E}">
        <p14:creationId xmlns:p14="http://schemas.microsoft.com/office/powerpoint/2010/main" val="269549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99167-14DF-CF6C-3307-128536AA1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062955" cy="23876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梳理 </a:t>
            </a:r>
            <a:r>
              <a:rPr lang="en-US" altLang="zh-CN" dirty="0" err="1"/>
              <a:t>Astera</a:t>
            </a:r>
            <a:r>
              <a:rPr lang="en-US" altLang="zh-CN" dirty="0"/>
              <a:t> Labs </a:t>
            </a:r>
            <a:r>
              <a:rPr lang="zh-CN" altLang="en-US" dirty="0"/>
              <a:t>目前四大</a:t>
            </a:r>
            <a:br>
              <a:rPr lang="en-US" altLang="zh-CN" dirty="0"/>
            </a:br>
            <a:r>
              <a:rPr lang="zh-CN" altLang="en-US" dirty="0"/>
              <a:t>核心产品线（星座系列：</a:t>
            </a:r>
            <a:r>
              <a:rPr lang="en-US" altLang="zh-CN" dirty="0"/>
              <a:t>Aries</a:t>
            </a:r>
            <a:r>
              <a:rPr lang="zh-CN" altLang="en-US" dirty="0"/>
              <a:t>、</a:t>
            </a:r>
            <a:r>
              <a:rPr lang="en-US" altLang="zh-CN" dirty="0"/>
              <a:t>Leo</a:t>
            </a:r>
            <a:r>
              <a:rPr lang="zh-CN" altLang="en-US" dirty="0"/>
              <a:t>、</a:t>
            </a:r>
            <a:r>
              <a:rPr lang="en-US" altLang="zh-CN" dirty="0"/>
              <a:t>Scorpio</a:t>
            </a:r>
            <a:r>
              <a:rPr lang="zh-CN" altLang="en-US" dirty="0"/>
              <a:t>、</a:t>
            </a:r>
            <a:r>
              <a:rPr lang="en-US" altLang="zh-CN" dirty="0"/>
              <a:t>Taurus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5334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B4EC0-E2C4-01B3-1D4F-2A1617D4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270"/>
            <a:ext cx="10515600" cy="6073095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1. Aries</a:t>
            </a:r>
          </a:p>
          <a:p>
            <a:r>
              <a:rPr lang="zh-CN" altLang="en-US" sz="2000" b="1" dirty="0"/>
              <a:t>产品名称：</a:t>
            </a:r>
            <a:r>
              <a:rPr lang="zh-CN" altLang="en-US" sz="2000" dirty="0"/>
              <a:t> </a:t>
            </a:r>
            <a:r>
              <a:rPr lang="en-US" altLang="zh-CN" sz="2000" dirty="0"/>
              <a:t>PCIe/CXL </a:t>
            </a:r>
            <a:r>
              <a:rPr lang="zh-CN" altLang="en-US" sz="2000" dirty="0"/>
              <a:t>智能重定时器与变速箱 </a:t>
            </a:r>
            <a:r>
              <a:rPr lang="en-US" altLang="zh-CN" sz="2000" dirty="0"/>
              <a:t>(Smart DSP </a:t>
            </a:r>
            <a:r>
              <a:rPr lang="en-US" altLang="zh-CN" sz="2000" dirty="0" err="1"/>
              <a:t>Retimers</a:t>
            </a:r>
            <a:r>
              <a:rPr lang="en-US" altLang="zh-CN" sz="2000" dirty="0"/>
              <a:t> &amp; Gearboxes)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基本芯片架构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核心模块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超高速 </a:t>
            </a:r>
            <a:r>
              <a:rPr lang="en-US" altLang="zh-CN" sz="2000" b="1" dirty="0"/>
              <a:t>DSP SerDes </a:t>
            </a:r>
            <a:r>
              <a:rPr lang="zh-CN" altLang="en-US" sz="2000" b="1" dirty="0"/>
              <a:t>核心：</a:t>
            </a:r>
            <a:r>
              <a:rPr lang="zh-CN" altLang="en-US" sz="2000" dirty="0"/>
              <a:t> 采用全数字 </a:t>
            </a:r>
            <a:r>
              <a:rPr lang="en-US" altLang="zh-CN" sz="2000" dirty="0"/>
              <a:t>DSP </a:t>
            </a:r>
            <a:r>
              <a:rPr lang="zh-CN" altLang="en-US" sz="2000" dirty="0"/>
              <a:t>引擎进行多阶自适应前馈</a:t>
            </a:r>
            <a:r>
              <a:rPr lang="en-US" altLang="zh-CN" sz="2000" dirty="0"/>
              <a:t>/</a:t>
            </a:r>
            <a:r>
              <a:rPr lang="zh-CN" altLang="en-US" sz="2000" dirty="0"/>
              <a:t>判决反馈均衡（</a:t>
            </a:r>
            <a:r>
              <a:rPr lang="en-US" altLang="zh-CN" sz="2000" dirty="0"/>
              <a:t>FFE/DFE</a:t>
            </a:r>
            <a:r>
              <a:rPr lang="zh-CN" altLang="en-US" sz="2000" dirty="0"/>
              <a:t>），专门应对 </a:t>
            </a:r>
            <a:r>
              <a:rPr lang="en-US" altLang="zh-CN" sz="2000" dirty="0"/>
              <a:t>64 GT/s </a:t>
            </a:r>
            <a:r>
              <a:rPr lang="zh-CN" altLang="en-US" sz="2000" dirty="0"/>
              <a:t>等极高波特率下的复杂信号重构。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Smart Gearbox (</a:t>
            </a:r>
            <a:r>
              <a:rPr lang="zh-CN" altLang="en-US" sz="2000" b="1" dirty="0"/>
              <a:t>速率与协议转换引擎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硬件级的无损状态机，负责在不同 </a:t>
            </a:r>
            <a:r>
              <a:rPr lang="en-US" altLang="zh-CN" sz="2000" dirty="0"/>
              <a:t>PCIe </a:t>
            </a:r>
            <a:r>
              <a:rPr lang="zh-CN" altLang="en-US" sz="2000" dirty="0"/>
              <a:t>版本间进行全线速吞吐（例如 </a:t>
            </a:r>
            <a:r>
              <a:rPr lang="en-US" altLang="zh-CN" sz="2000" dirty="0"/>
              <a:t>PCIe 6.x Flit-mode </a:t>
            </a:r>
            <a:r>
              <a:rPr lang="zh-CN" altLang="en-US" sz="2000" dirty="0"/>
              <a:t>与早期 </a:t>
            </a:r>
            <a:r>
              <a:rPr lang="en-US" altLang="zh-CN" sz="2000" dirty="0"/>
              <a:t>Non-Flit-mode </a:t>
            </a:r>
            <a:r>
              <a:rPr lang="zh-CN" altLang="en-US" sz="2000" dirty="0"/>
              <a:t>之间的无缝翻译）。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遥测与诊断微控制器：</a:t>
            </a:r>
            <a:r>
              <a:rPr lang="zh-CN" altLang="en-US" sz="2000" dirty="0"/>
              <a:t> 挂载于 </a:t>
            </a:r>
            <a:r>
              <a:rPr lang="en-US" altLang="zh-CN" sz="2000" dirty="0"/>
              <a:t>COSMOS </a:t>
            </a:r>
            <a:r>
              <a:rPr lang="zh-CN" altLang="en-US" sz="2000" dirty="0"/>
              <a:t>软件体系的专用片内处理器，内置 </a:t>
            </a:r>
            <a:r>
              <a:rPr lang="en-US" altLang="zh-CN" sz="2000" dirty="0"/>
              <a:t>LTSSM </a:t>
            </a:r>
            <a:r>
              <a:rPr lang="zh-CN" altLang="en-US" sz="2000" dirty="0"/>
              <a:t>记录器和非破坏性硬件眼图扫描 </a:t>
            </a:r>
            <a:r>
              <a:rPr lang="en-US" altLang="zh-CN" sz="2000" dirty="0"/>
              <a:t>(RX Margining) </a:t>
            </a:r>
            <a:r>
              <a:rPr lang="zh-CN" altLang="en-US" sz="2000" dirty="0"/>
              <a:t>电路。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核心卖点：</a:t>
            </a:r>
            <a:r>
              <a:rPr lang="zh-CN" altLang="en-US" sz="2000" dirty="0"/>
              <a:t> * </a:t>
            </a:r>
            <a:r>
              <a:rPr lang="zh-CN" altLang="en-US" sz="2000" b="1" dirty="0"/>
              <a:t>信号延伸：</a:t>
            </a:r>
            <a:r>
              <a:rPr lang="zh-CN" altLang="en-US" sz="2000" dirty="0"/>
              <a:t> 在极高损耗信道下，通过强大的 </a:t>
            </a:r>
            <a:r>
              <a:rPr lang="en-US" altLang="zh-CN" sz="2000" dirty="0"/>
              <a:t>DSP </a:t>
            </a:r>
            <a:r>
              <a:rPr lang="zh-CN" altLang="en-US" sz="2000" dirty="0"/>
              <a:t>算法将 </a:t>
            </a:r>
            <a:r>
              <a:rPr lang="en-US" altLang="zh-CN" sz="2000" dirty="0"/>
              <a:t>PCIe 5.0/6.0 </a:t>
            </a:r>
            <a:r>
              <a:rPr lang="zh-CN" altLang="en-US" sz="2000" dirty="0"/>
              <a:t>的有效信号传输距离提升高达 </a:t>
            </a:r>
            <a:r>
              <a:rPr lang="en-US" altLang="zh-CN" sz="2000" dirty="0"/>
              <a:t>3 </a:t>
            </a:r>
            <a:r>
              <a:rPr lang="zh-CN" altLang="en-US" sz="2000" dirty="0"/>
              <a:t>倍。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利旧降本：</a:t>
            </a:r>
            <a:r>
              <a:rPr lang="zh-CN" altLang="en-US" sz="2000" dirty="0"/>
              <a:t> 允许老旧架构的 </a:t>
            </a:r>
            <a:r>
              <a:rPr lang="en-US" altLang="zh-CN" sz="2000" dirty="0"/>
              <a:t>CPU/</a:t>
            </a:r>
            <a:r>
              <a:rPr lang="zh-CN" altLang="en-US" sz="2000" dirty="0"/>
              <a:t>主板无缝对接最新一代高速加速器。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基本应用领域：</a:t>
            </a:r>
            <a:r>
              <a:rPr lang="zh-CN" altLang="en-US" sz="2000" dirty="0"/>
              <a:t> </a:t>
            </a:r>
            <a:r>
              <a:rPr lang="en-US" altLang="zh-CN" sz="2000" dirty="0"/>
              <a:t>AI </a:t>
            </a:r>
            <a:r>
              <a:rPr lang="zh-CN" altLang="en-US" sz="2000" dirty="0"/>
              <a:t>服务器节点内的高速总线连接，特别是 </a:t>
            </a:r>
            <a:r>
              <a:rPr lang="en-US" altLang="zh-CN" sz="2000" dirty="0"/>
              <a:t>CPU </a:t>
            </a:r>
            <a:r>
              <a:rPr lang="zh-CN" altLang="en-US" sz="2000" dirty="0"/>
              <a:t>与 </a:t>
            </a:r>
            <a:r>
              <a:rPr lang="en-US" altLang="zh-CN" sz="2000" dirty="0"/>
              <a:t>GPU</a:t>
            </a:r>
            <a:r>
              <a:rPr lang="zh-CN" altLang="en-US" sz="2000" dirty="0"/>
              <a:t>、各类加速卡之间的端到端 </a:t>
            </a:r>
            <a:r>
              <a:rPr lang="en-US" altLang="zh-CN" sz="2000" dirty="0"/>
              <a:t>PCIe/CXL </a:t>
            </a:r>
            <a:r>
              <a:rPr lang="zh-CN" altLang="en-US" sz="2000" dirty="0"/>
              <a:t>互联。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产品应用方式：</a:t>
            </a:r>
            <a:r>
              <a:rPr lang="zh-CN" altLang="en-US" sz="2000" dirty="0"/>
              <a:t> 芯片直接贴片于服务器主板 </a:t>
            </a:r>
            <a:r>
              <a:rPr lang="en-US" altLang="zh-CN" sz="2000" dirty="0"/>
              <a:t>(Motherboard)</a:t>
            </a:r>
            <a:r>
              <a:rPr lang="zh-CN" altLang="en-US" sz="2000" dirty="0"/>
              <a:t>，或集成在转接板 </a:t>
            </a:r>
            <a:r>
              <a:rPr lang="en-US" altLang="zh-CN" sz="2000" dirty="0"/>
              <a:t>(Riser cards) </a:t>
            </a:r>
            <a:r>
              <a:rPr lang="zh-CN" altLang="en-US" sz="2000" dirty="0"/>
              <a:t>与扩展卡上。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5540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B4EC0-E2C4-01B3-1D4F-2A1617D4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270"/>
            <a:ext cx="10515600" cy="6073095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2. Leo</a:t>
            </a:r>
          </a:p>
          <a:p>
            <a:r>
              <a:rPr lang="zh-CN" altLang="en-US" sz="2000" b="1" dirty="0"/>
              <a:t>产品名称：</a:t>
            </a:r>
            <a:r>
              <a:rPr lang="zh-CN" altLang="en-US" sz="2000" dirty="0"/>
              <a:t> </a:t>
            </a:r>
            <a:r>
              <a:rPr lang="en-US" altLang="zh-CN" sz="2000" dirty="0"/>
              <a:t>CXL </a:t>
            </a:r>
            <a:r>
              <a:rPr lang="zh-CN" altLang="en-US" sz="2000" dirty="0"/>
              <a:t>智能内存控制器 </a:t>
            </a:r>
            <a:r>
              <a:rPr lang="en-US" altLang="zh-CN" sz="2000" dirty="0"/>
              <a:t>(CXL Smart Memory Controllers)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基本芯片架构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核心模块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低延迟数据路径中枢：</a:t>
            </a:r>
            <a:r>
              <a:rPr lang="zh-CN" altLang="en-US" sz="2000" dirty="0"/>
              <a:t> 前端集成最高 </a:t>
            </a:r>
            <a:r>
              <a:rPr lang="en-US" altLang="zh-CN" sz="2000" dirty="0"/>
              <a:t>x16 </a:t>
            </a:r>
            <a:r>
              <a:rPr lang="zh-CN" altLang="en-US" sz="2000" dirty="0"/>
              <a:t>通道的 </a:t>
            </a:r>
            <a:r>
              <a:rPr lang="en-US" altLang="zh-CN" sz="2000" dirty="0"/>
              <a:t>PCIe/CXL </a:t>
            </a:r>
            <a:r>
              <a:rPr lang="zh-CN" altLang="en-US" sz="2000" dirty="0"/>
              <a:t>接口控制器，后端集成支持单颗 </a:t>
            </a:r>
            <a:r>
              <a:rPr lang="en-US" altLang="zh-CN" sz="2000" dirty="0"/>
              <a:t>2 </a:t>
            </a:r>
            <a:r>
              <a:rPr lang="zh-CN" altLang="en-US" sz="2000" dirty="0"/>
              <a:t>通道最高 </a:t>
            </a:r>
            <a:r>
              <a:rPr lang="en-US" altLang="zh-CN" sz="2000" dirty="0"/>
              <a:t>5600 MT/s </a:t>
            </a:r>
            <a:r>
              <a:rPr lang="zh-CN" altLang="en-US" sz="2000" dirty="0"/>
              <a:t>的 </a:t>
            </a:r>
            <a:r>
              <a:rPr lang="en-US" altLang="zh-CN" sz="2000" dirty="0"/>
              <a:t>DDR5 </a:t>
            </a:r>
            <a:r>
              <a:rPr lang="zh-CN" altLang="en-US" sz="2000" dirty="0"/>
              <a:t>内存控制器，打通计算与存储的高速直连。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分层池化引擎 </a:t>
            </a:r>
            <a:r>
              <a:rPr lang="en-US" altLang="zh-CN" sz="2000" b="1" dirty="0"/>
              <a:t>(Pooling &amp; Sharing Engine)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在高级的 </a:t>
            </a:r>
            <a:r>
              <a:rPr lang="en-US" altLang="zh-CN" sz="2000" dirty="0"/>
              <a:t>P-Series </a:t>
            </a:r>
            <a:r>
              <a:rPr lang="zh-CN" altLang="en-US" sz="2000" dirty="0"/>
              <a:t>芯片中硬化的动态寻址模块，支持跨节点分配内存资源。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高级 </a:t>
            </a:r>
            <a:r>
              <a:rPr lang="en-US" altLang="zh-CN" sz="2000" b="1" dirty="0"/>
              <a:t>RAS </a:t>
            </a:r>
            <a:r>
              <a:rPr lang="zh-CN" altLang="en-US" sz="2000" b="1" dirty="0"/>
              <a:t>微控制器：</a:t>
            </a:r>
            <a:r>
              <a:rPr lang="zh-CN" altLang="en-US" sz="2000" dirty="0"/>
              <a:t> 独立纠错单元，提供 </a:t>
            </a:r>
            <a:r>
              <a:rPr lang="en-US" altLang="zh-CN" sz="2000" dirty="0"/>
              <a:t>RDIMM </a:t>
            </a:r>
            <a:r>
              <a:rPr lang="zh-CN" altLang="en-US" sz="2000" dirty="0"/>
              <a:t>级别的故障隔离与企业级高可用性管理。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核心卖点：</a:t>
            </a:r>
            <a:r>
              <a:rPr lang="zh-CN" altLang="en-US" sz="2000" dirty="0"/>
              <a:t> * </a:t>
            </a:r>
            <a:r>
              <a:rPr lang="zh-CN" altLang="en-US" sz="2000" b="1" dirty="0"/>
              <a:t>打破“内存墙”：</a:t>
            </a:r>
            <a:r>
              <a:rPr lang="zh-CN" altLang="en-US" sz="2000" dirty="0"/>
              <a:t> 极大拓展了单节点的内存容量（最高可扩展 </a:t>
            </a:r>
            <a:r>
              <a:rPr lang="en-US" altLang="zh-CN" sz="2000" dirty="0"/>
              <a:t>2TB</a:t>
            </a:r>
            <a:r>
              <a:rPr lang="zh-CN" altLang="en-US" sz="2000" dirty="0"/>
              <a:t>），并解耦了 </a:t>
            </a:r>
            <a:r>
              <a:rPr lang="en-US" altLang="zh-CN" sz="2000" dirty="0"/>
              <a:t>CPU/GPU </a:t>
            </a:r>
            <a:r>
              <a:rPr lang="zh-CN" altLang="en-US" sz="2000" dirty="0"/>
              <a:t>与内存条的强绑定关系。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降本增效：</a:t>
            </a:r>
            <a:r>
              <a:rPr lang="zh-CN" altLang="en-US" sz="2000" dirty="0"/>
              <a:t> 让昂贵的 </a:t>
            </a:r>
            <a:r>
              <a:rPr lang="en-US" altLang="zh-CN" sz="2000" dirty="0"/>
              <a:t>HBM </a:t>
            </a:r>
            <a:r>
              <a:rPr lang="zh-CN" altLang="en-US" sz="2000" dirty="0"/>
              <a:t>显存专注于高算力操作，而将大容量需求转移到便宜的 </a:t>
            </a:r>
            <a:r>
              <a:rPr lang="en-US" altLang="zh-CN" sz="2000" dirty="0"/>
              <a:t>DDR5 </a:t>
            </a:r>
            <a:r>
              <a:rPr lang="zh-CN" altLang="en-US" sz="2000" dirty="0"/>
              <a:t>内存池中。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基本应用领域：</a:t>
            </a:r>
            <a:r>
              <a:rPr lang="zh-CN" altLang="en-US" sz="2000" dirty="0"/>
              <a:t> 大语言模型 </a:t>
            </a:r>
            <a:r>
              <a:rPr lang="en-US" altLang="zh-CN" sz="2000" dirty="0"/>
              <a:t>(LLM) </a:t>
            </a:r>
            <a:r>
              <a:rPr lang="zh-CN" altLang="en-US" sz="2000" dirty="0"/>
              <a:t>分布式推理（特别是对内存容量要求极高的 </a:t>
            </a:r>
            <a:r>
              <a:rPr lang="en-US" altLang="zh-CN" sz="2000" dirty="0"/>
              <a:t>KV Cache </a:t>
            </a:r>
            <a:r>
              <a:rPr lang="zh-CN" altLang="en-US" sz="2000" dirty="0"/>
              <a:t>阶段）、</a:t>
            </a:r>
            <a:r>
              <a:rPr lang="en-US" altLang="zh-CN" sz="2000" dirty="0"/>
              <a:t>AI </a:t>
            </a:r>
            <a:r>
              <a:rPr lang="zh-CN" altLang="en-US" sz="2000" dirty="0"/>
              <a:t>训练内存扩展。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产品应用方式：</a:t>
            </a:r>
            <a:r>
              <a:rPr lang="zh-CN" altLang="en-US" sz="2000" dirty="0"/>
              <a:t> * </a:t>
            </a:r>
            <a:r>
              <a:rPr lang="zh-CN" altLang="en-US" sz="2000" b="1" dirty="0"/>
              <a:t>标准插卡：</a:t>
            </a:r>
            <a:r>
              <a:rPr lang="zh-CN" altLang="en-US" sz="2000" dirty="0"/>
              <a:t> 制成标准的 </a:t>
            </a:r>
            <a:r>
              <a:rPr lang="en-US" altLang="zh-CN" sz="2000" dirty="0"/>
              <a:t>PCIe x16 CEM </a:t>
            </a:r>
            <a:r>
              <a:rPr lang="zh-CN" altLang="en-US" sz="2000" dirty="0"/>
              <a:t>扩展卡 </a:t>
            </a:r>
            <a:r>
              <a:rPr lang="en-US" altLang="zh-CN" sz="2000" dirty="0"/>
              <a:t>(</a:t>
            </a:r>
            <a:r>
              <a:rPr lang="zh-CN" altLang="en-US" sz="2000" dirty="0"/>
              <a:t>如 </a:t>
            </a:r>
            <a:r>
              <a:rPr lang="en-US" altLang="zh-CN" sz="2000" dirty="0"/>
              <a:t>Leo A-Series)</a:t>
            </a:r>
            <a:r>
              <a:rPr lang="zh-CN" altLang="en-US" sz="2000" dirty="0"/>
              <a:t>，卡上自带多个内存插槽，直接插进服务器使用。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模块化集成：</a:t>
            </a:r>
            <a:r>
              <a:rPr lang="zh-CN" altLang="en-US" sz="2000" dirty="0"/>
              <a:t> 芯片及配套电路做成夹层卡或集成于服务器主板。</a:t>
            </a:r>
          </a:p>
        </p:txBody>
      </p:sp>
    </p:spTree>
    <p:extLst>
      <p:ext uri="{BB962C8B-B14F-4D97-AF65-F5344CB8AC3E}">
        <p14:creationId xmlns:p14="http://schemas.microsoft.com/office/powerpoint/2010/main" val="107338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B4EC0-E2C4-01B3-1D4F-2A1617D4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270"/>
            <a:ext cx="10515600" cy="6073095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3. Scorpio</a:t>
            </a:r>
          </a:p>
          <a:p>
            <a:r>
              <a:rPr lang="zh-CN" altLang="en-US" sz="2000" b="1" dirty="0"/>
              <a:t>产品名称：</a:t>
            </a:r>
            <a:r>
              <a:rPr lang="zh-CN" altLang="en-US" sz="2000" dirty="0"/>
              <a:t> 智能 </a:t>
            </a:r>
            <a:r>
              <a:rPr lang="en-US" altLang="zh-CN" sz="2000" dirty="0"/>
              <a:t>Fabric </a:t>
            </a:r>
            <a:r>
              <a:rPr lang="zh-CN" altLang="en-US" sz="2000" dirty="0"/>
              <a:t>交换芯片 </a:t>
            </a:r>
            <a:r>
              <a:rPr lang="en-US" altLang="zh-CN" sz="2000" dirty="0"/>
              <a:t>(Smart Fabric Switches)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基本芯片架构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核心模块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无阻塞交叉开关矩阵 </a:t>
            </a:r>
            <a:r>
              <a:rPr lang="en-US" altLang="zh-CN" sz="2000" b="1" dirty="0"/>
              <a:t>(Non-blocking Crossbar)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超宽数据通道（高达 </a:t>
            </a:r>
            <a:r>
              <a:rPr lang="en-US" altLang="zh-CN" sz="2000" dirty="0"/>
              <a:t>320 Lanes</a:t>
            </a:r>
            <a:r>
              <a:rPr lang="zh-CN" altLang="en-US" sz="2000" dirty="0"/>
              <a:t>），提供端到端的线速直通能力，将内部拥塞降至极低。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定制化拓扑加速层：</a:t>
            </a:r>
            <a:r>
              <a:rPr lang="zh-CN" altLang="en-US" sz="2000" dirty="0"/>
              <a:t> 包含负责混合流量调度的 </a:t>
            </a:r>
            <a:r>
              <a:rPr lang="en-US" altLang="zh-CN" sz="2000" dirty="0"/>
              <a:t>P-Series </a:t>
            </a:r>
            <a:r>
              <a:rPr lang="zh-CN" altLang="en-US" sz="2000" dirty="0"/>
              <a:t>路由引擎，以及专攻大规模同构 </a:t>
            </a:r>
            <a:r>
              <a:rPr lang="en-US" altLang="zh-CN" sz="2000" dirty="0"/>
              <a:t>GPU </a:t>
            </a:r>
            <a:r>
              <a:rPr lang="zh-CN" altLang="en-US" sz="2000" dirty="0"/>
              <a:t>后端连接的 </a:t>
            </a:r>
            <a:r>
              <a:rPr lang="en-US" altLang="zh-CN" sz="2000" dirty="0"/>
              <a:t>X-Series </a:t>
            </a:r>
            <a:r>
              <a:rPr lang="zh-CN" altLang="en-US" sz="2000" dirty="0"/>
              <a:t>数据面。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 err="1"/>
              <a:t>Hypercast</a:t>
            </a:r>
            <a:r>
              <a:rPr lang="en-US" altLang="zh-CN" sz="2000" b="1" dirty="0"/>
              <a:t>™ </a:t>
            </a:r>
            <a:r>
              <a:rPr lang="zh-CN" altLang="en-US" sz="2000" b="1" dirty="0"/>
              <a:t>网络内计算引擎 </a:t>
            </a:r>
            <a:r>
              <a:rPr lang="en-US" altLang="zh-CN" sz="2000" b="1" dirty="0"/>
              <a:t>(In-Network Compute)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芯片内部硬化的数据复制与聚合模块，直接在交换层进行简单算术逻辑运算。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核心卖点：</a:t>
            </a:r>
            <a:r>
              <a:rPr lang="zh-CN" altLang="en-US" sz="2000" dirty="0"/>
              <a:t> * </a:t>
            </a:r>
            <a:r>
              <a:rPr lang="zh-CN" altLang="en-US" sz="2000" b="1" dirty="0"/>
              <a:t>极低延迟单跳互联：</a:t>
            </a:r>
            <a:r>
              <a:rPr lang="zh-CN" altLang="en-US" sz="2000" dirty="0"/>
              <a:t> 允许庞大的 </a:t>
            </a:r>
            <a:r>
              <a:rPr lang="en-US" altLang="zh-CN" sz="2000" dirty="0"/>
              <a:t>AI </a:t>
            </a:r>
            <a:r>
              <a:rPr lang="zh-CN" altLang="en-US" sz="2000" dirty="0"/>
              <a:t>集群在一个拓扑层级内完成点对点通信，消除多级路由带来的延迟瓶颈。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算力卸载：</a:t>
            </a:r>
            <a:r>
              <a:rPr lang="zh-CN" altLang="en-US" sz="2000" dirty="0"/>
              <a:t> 通过硬件引擎接管 </a:t>
            </a:r>
            <a:r>
              <a:rPr lang="en-US" altLang="zh-CN" sz="2000" dirty="0" err="1"/>
              <a:t>AllGather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AllReduce</a:t>
            </a:r>
            <a:r>
              <a:rPr lang="en-US" altLang="zh-CN" sz="2000" dirty="0"/>
              <a:t> </a:t>
            </a:r>
            <a:r>
              <a:rPr lang="zh-CN" altLang="en-US" sz="2000" dirty="0"/>
              <a:t>等集群通信操作，释放宝贵的 </a:t>
            </a:r>
            <a:r>
              <a:rPr lang="en-US" altLang="zh-CN" sz="2000" dirty="0"/>
              <a:t>GPU </a:t>
            </a:r>
            <a:r>
              <a:rPr lang="zh-CN" altLang="en-US" sz="2000" dirty="0"/>
              <a:t>算力用于纯粹的模型训练。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基本应用领域：</a:t>
            </a:r>
            <a:r>
              <a:rPr lang="zh-CN" altLang="en-US" sz="2000" dirty="0"/>
              <a:t> 云端 </a:t>
            </a:r>
            <a:r>
              <a:rPr lang="en-US" altLang="zh-CN" sz="2000" dirty="0"/>
              <a:t>AI </a:t>
            </a:r>
            <a:r>
              <a:rPr lang="zh-CN" altLang="en-US" sz="2000" dirty="0"/>
              <a:t>算力集群的 </a:t>
            </a:r>
            <a:r>
              <a:rPr lang="en-US" altLang="zh-CN" sz="2000" dirty="0"/>
              <a:t>Scale-up (</a:t>
            </a:r>
            <a:r>
              <a:rPr lang="zh-CN" altLang="en-US" sz="2000" dirty="0"/>
              <a:t>向上扩展</a:t>
            </a:r>
            <a:r>
              <a:rPr lang="en-US" altLang="zh-CN" sz="2000" dirty="0"/>
              <a:t>)</a:t>
            </a:r>
            <a:r>
              <a:rPr lang="zh-CN" altLang="en-US" sz="2000" dirty="0"/>
              <a:t>，针对 </a:t>
            </a:r>
            <a:r>
              <a:rPr lang="en-US" altLang="zh-CN" sz="2000" dirty="0"/>
              <a:t>GPU-to-GPU </a:t>
            </a:r>
            <a:r>
              <a:rPr lang="zh-CN" altLang="en-US" sz="2000" dirty="0"/>
              <a:t>的高速 </a:t>
            </a:r>
            <a:r>
              <a:rPr lang="en-US" altLang="zh-CN" sz="2000" dirty="0"/>
              <a:t>Fabric </a:t>
            </a:r>
            <a:r>
              <a:rPr lang="zh-CN" altLang="en-US" sz="2000" dirty="0"/>
              <a:t>组网（对标</a:t>
            </a:r>
            <a:r>
              <a:rPr lang="en-US" altLang="zh-CN" sz="2000" dirty="0"/>
              <a:t>/</a:t>
            </a:r>
            <a:r>
              <a:rPr lang="zh-CN" altLang="en-US" sz="2000" dirty="0"/>
              <a:t>补充 </a:t>
            </a:r>
            <a:r>
              <a:rPr lang="en-US" altLang="zh-CN" sz="2000" dirty="0" err="1"/>
              <a:t>NVLink</a:t>
            </a:r>
            <a:r>
              <a:rPr lang="en-US" altLang="zh-CN" sz="2000" dirty="0"/>
              <a:t> </a:t>
            </a:r>
            <a:r>
              <a:rPr lang="zh-CN" altLang="en-US" sz="2000" dirty="0"/>
              <a:t>等专有协议）。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产品应用方式：</a:t>
            </a:r>
            <a:r>
              <a:rPr lang="zh-CN" altLang="en-US" sz="2000" dirty="0"/>
              <a:t> 作为核心交换 </a:t>
            </a:r>
            <a:r>
              <a:rPr lang="en-US" altLang="zh-CN" sz="2000" dirty="0"/>
              <a:t>ASIC </a:t>
            </a:r>
            <a:r>
              <a:rPr lang="zh-CN" altLang="en-US" sz="2000" dirty="0"/>
              <a:t>芯片，被服务器厂商直接集成部署在 </a:t>
            </a:r>
            <a:r>
              <a:rPr lang="en-US" altLang="zh-CN" sz="2000" dirty="0"/>
              <a:t>AI </a:t>
            </a:r>
            <a:r>
              <a:rPr lang="zh-CN" altLang="en-US" sz="2000" dirty="0"/>
              <a:t>集群的加速基板 </a:t>
            </a:r>
            <a:r>
              <a:rPr lang="en-US" altLang="zh-CN" sz="2000" dirty="0"/>
              <a:t>(Baseboard) </a:t>
            </a:r>
            <a:r>
              <a:rPr lang="zh-CN" altLang="en-US" sz="2000" dirty="0"/>
              <a:t>或独立机架交换机设备中。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05674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B4EC0-E2C4-01B3-1D4F-2A1617D4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270"/>
            <a:ext cx="10113458" cy="6073095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4. Taurus</a:t>
            </a:r>
          </a:p>
          <a:p>
            <a:r>
              <a:rPr lang="zh-CN" altLang="en-US" sz="2000" b="1" dirty="0"/>
              <a:t>产品名称：</a:t>
            </a:r>
            <a:r>
              <a:rPr lang="zh-CN" altLang="en-US" sz="2000" dirty="0"/>
              <a:t> 以太网智能线缆模块芯片 </a:t>
            </a:r>
            <a:r>
              <a:rPr lang="en-US" altLang="zh-CN" sz="2000" dirty="0"/>
              <a:t>(Ethernet Smart Cable Modules)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基本芯片架构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核心模块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以太网定制 </a:t>
            </a:r>
            <a:r>
              <a:rPr lang="en-US" altLang="zh-CN" sz="2000" b="1" dirty="0"/>
              <a:t>DSP SerDes </a:t>
            </a:r>
            <a:r>
              <a:rPr lang="zh-CN" altLang="en-US" sz="2000" b="1" dirty="0"/>
              <a:t>核心：</a:t>
            </a:r>
            <a:r>
              <a:rPr lang="zh-CN" altLang="en-US" sz="2000" dirty="0"/>
              <a:t> 专为 </a:t>
            </a:r>
            <a:r>
              <a:rPr lang="en-US" altLang="zh-CN" sz="2000" dirty="0"/>
              <a:t>200/400/800GbE </a:t>
            </a:r>
            <a:r>
              <a:rPr lang="zh-CN" altLang="en-US" sz="2000" dirty="0"/>
              <a:t>复杂以太网环境优化的 </a:t>
            </a:r>
            <a:r>
              <a:rPr lang="en-US" altLang="zh-CN" sz="2000" dirty="0"/>
              <a:t>DSP </a:t>
            </a:r>
            <a:r>
              <a:rPr lang="zh-CN" altLang="en-US" sz="2000" dirty="0"/>
              <a:t>架构，重点补偿 </a:t>
            </a:r>
            <a:r>
              <a:rPr lang="en-US" altLang="zh-CN" sz="2000" dirty="0"/>
              <a:t>100G/Lane PAM4 </a:t>
            </a:r>
            <a:r>
              <a:rPr lang="zh-CN" altLang="en-US" sz="2000" dirty="0"/>
              <a:t>速率下铜线缆带来的极高插入损耗与近端串扰。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聚合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解聚合模块 </a:t>
            </a:r>
            <a:r>
              <a:rPr lang="en-US" altLang="zh-CN" sz="2000" b="1" dirty="0"/>
              <a:t>(Aggregation/Disaggregation)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硬件级的多通道速率拆分与组合引擎（</a:t>
            </a:r>
            <a:r>
              <a:rPr lang="en-US" altLang="zh-CN" sz="2000" dirty="0"/>
              <a:t>MAC/PHY </a:t>
            </a:r>
            <a:r>
              <a:rPr lang="zh-CN" altLang="en-US" sz="2000" dirty="0"/>
              <a:t>联合机制）。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穿透式直通数据路径：</a:t>
            </a:r>
            <a:r>
              <a:rPr lang="zh-CN" altLang="en-US" sz="2000" dirty="0"/>
              <a:t> 摒弃深度抓包分析，仅做物理层的信号调理，极大缩短数据过境时间。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核心卖点：</a:t>
            </a:r>
            <a:r>
              <a:rPr lang="zh-CN" altLang="en-US" sz="2000" dirty="0"/>
              <a:t> * </a:t>
            </a:r>
            <a:r>
              <a:rPr lang="zh-CN" altLang="en-US" sz="2000" b="1" dirty="0"/>
              <a:t>超低延迟：</a:t>
            </a:r>
            <a:r>
              <a:rPr lang="zh-CN" altLang="en-US" sz="2000" dirty="0"/>
              <a:t> 端到端延迟被强制控制在 </a:t>
            </a:r>
            <a:r>
              <a:rPr lang="en-US" altLang="zh-CN" sz="2000" dirty="0"/>
              <a:t>100ns </a:t>
            </a:r>
            <a:r>
              <a:rPr lang="zh-CN" altLang="en-US" sz="2000" dirty="0"/>
              <a:t>以内，这对于数据中心网络至关重要。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智能速率匹配：</a:t>
            </a:r>
            <a:r>
              <a:rPr lang="zh-CN" altLang="en-US" sz="2000" dirty="0"/>
              <a:t> 允许两端设备在不对等速率下（如 </a:t>
            </a:r>
            <a:r>
              <a:rPr lang="en-US" altLang="zh-CN" sz="2000" dirty="0"/>
              <a:t>200G </a:t>
            </a:r>
            <a:r>
              <a:rPr lang="zh-CN" altLang="en-US" sz="2000" dirty="0"/>
              <a:t>网卡连 </a:t>
            </a:r>
            <a:r>
              <a:rPr lang="en-US" altLang="zh-CN" sz="2000" dirty="0"/>
              <a:t>400G </a:t>
            </a:r>
            <a:r>
              <a:rPr lang="zh-CN" altLang="en-US" sz="2000" dirty="0"/>
              <a:t>交换机端口）即插即连，自动完成协议与波特率转换。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基本应用领域：</a:t>
            </a:r>
            <a:r>
              <a:rPr lang="zh-CN" altLang="en-US" sz="2000" dirty="0"/>
              <a:t> 数据中心 </a:t>
            </a:r>
            <a:r>
              <a:rPr lang="en-US" altLang="zh-CN" sz="2000" dirty="0"/>
              <a:t>Scale-out (</a:t>
            </a:r>
            <a:r>
              <a:rPr lang="zh-CN" altLang="en-US" sz="2000" dirty="0"/>
              <a:t>向外扩展</a:t>
            </a:r>
            <a:r>
              <a:rPr lang="en-US" altLang="zh-CN" sz="2000" dirty="0"/>
              <a:t>) </a:t>
            </a:r>
            <a:r>
              <a:rPr lang="zh-CN" altLang="en-US" sz="2000" dirty="0"/>
              <a:t>网络互联，主要用于顶层交换机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ToR</a:t>
            </a:r>
            <a:r>
              <a:rPr lang="en-US" altLang="zh-CN" sz="2000" dirty="0"/>
              <a:t>) </a:t>
            </a:r>
            <a:r>
              <a:rPr lang="zh-CN" altLang="en-US" sz="2000" dirty="0"/>
              <a:t>向下连接各服务器节点上的智能网卡 </a:t>
            </a:r>
            <a:r>
              <a:rPr lang="en-US" altLang="zh-CN" sz="2000" dirty="0"/>
              <a:t>(NIC)</a:t>
            </a:r>
            <a:r>
              <a:rPr lang="zh-CN" altLang="en-US" sz="2000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产品应用方式：</a:t>
            </a:r>
            <a:r>
              <a:rPr lang="zh-CN" altLang="en-US" sz="2000" dirty="0"/>
              <a:t> 芯片集成在外围器件极少的小型桨接板 </a:t>
            </a:r>
            <a:r>
              <a:rPr lang="en-US" altLang="zh-CN" sz="2000" dirty="0"/>
              <a:t>(Paddle card) </a:t>
            </a:r>
            <a:r>
              <a:rPr lang="zh-CN" altLang="en-US" sz="2000" dirty="0"/>
              <a:t>上，整体封装在</a:t>
            </a:r>
            <a:r>
              <a:rPr lang="zh-CN" altLang="en-US" sz="2000" b="1" dirty="0"/>
              <a:t>有源电缆 </a:t>
            </a:r>
            <a:r>
              <a:rPr lang="en-US" altLang="zh-CN" sz="2000" b="1" dirty="0"/>
              <a:t>(AEC)</a:t>
            </a:r>
            <a:r>
              <a:rPr lang="zh-CN" altLang="en-US" sz="2000" dirty="0"/>
              <a:t> 的两端接头内，作为即插即用的智能线缆售卖。</a:t>
            </a:r>
          </a:p>
        </p:txBody>
      </p:sp>
    </p:spTree>
    <p:extLst>
      <p:ext uri="{BB962C8B-B14F-4D97-AF65-F5344CB8AC3E}">
        <p14:creationId xmlns:p14="http://schemas.microsoft.com/office/powerpoint/2010/main" val="404114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58145-D7BC-D006-C864-280C71FF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B4EC0-E2C4-01B3-1D4F-2A1617D44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242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1852</Words>
  <Application>Microsoft Office PowerPoint</Application>
  <PresentationFormat>宽屏</PresentationFormat>
  <Paragraphs>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美国证监会（SEC）S-1 招股说明书 (法律/商业证明) 24、25财年财报</vt:lpstr>
      <vt:lpstr>ALAB S-1 招股说明书/年报</vt:lpstr>
      <vt:lpstr>创始人履历与德州仪器（TI）基因的权威报道</vt:lpstr>
      <vt:lpstr>安永 (EY) 年度企业家奖官方新闻稿 </vt:lpstr>
      <vt:lpstr>《福布斯》(Forbes) 商业报道 </vt:lpstr>
      <vt:lpstr>维基百科官方词条 </vt:lpstr>
      <vt:lpstr>新思科技（Synopsys）关于 Astera Labs 外购核心接口 IP 的官方公告</vt:lpstr>
      <vt:lpstr>首次流片使用 Synopsys IP 的成功官宣（2019年） </vt:lpstr>
      <vt:lpstr>超高速网络与 UALink IP 的最新生态协作（2024年底） </vt:lpstr>
      <vt:lpstr>梳理 Astera Labs 目前四大 核心产品线（星座系列：Aries、Leo、Scorpio、Taurus）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 Eric</dc:creator>
  <cp:lastModifiedBy>02 Eric</cp:lastModifiedBy>
  <cp:revision>36</cp:revision>
  <dcterms:created xsi:type="dcterms:W3CDTF">2026-06-16T12:22:41Z</dcterms:created>
  <dcterms:modified xsi:type="dcterms:W3CDTF">2026-06-22T02:56:05Z</dcterms:modified>
</cp:coreProperties>
</file>