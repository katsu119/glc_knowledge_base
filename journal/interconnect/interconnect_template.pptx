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EB6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</a:rPr>
              <a:t>LLM 互联接口产品线调研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CF0"/>
                </a:solidFill>
                <a:latin typeface="Microsoft YaHei"/>
              </a:rPr>
              <a:t>竞品分析 · 技术路线 · 市场定位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Microsoft YaHei"/>
              </a:rPr>
              <a:t>汇报人：葛良晨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69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87878"/>
                </a:solidFill>
                <a:latin typeface="Microsoft YaHei"/>
              </a:rPr>
              <a:t>2026年06月23日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539F"/>
                </a:solidFill>
                <a:latin typeface="Microsoft YaHei"/>
              </a:rPr>
              <a:t>汇报大纲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EB6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234440"/>
            <a:ext cx="320040" cy="320040"/>
          </a:xfrm>
          <a:prstGeom prst="ellipse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Microsoft YaHei"/>
              </a:rPr>
              <a:t>调研背景与目标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737360"/>
            <a:ext cx="320040" cy="320040"/>
          </a:xfrm>
          <a:prstGeom prst="ellipse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Microsoft YaHei"/>
              </a:rPr>
              <a:t>产品线总览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240280"/>
            <a:ext cx="320040" cy="320040"/>
          </a:xfrm>
          <a:prstGeom prst="ellipse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Microsoft YaHei"/>
              </a:rPr>
              <a:t>物理层：Retimer 与 Smart Cable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743200"/>
            <a:ext cx="320040" cy="320040"/>
          </a:xfrm>
          <a:prstGeom prst="ellipse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697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Microsoft YaHei"/>
              </a:rPr>
              <a:t>交换芯片与 CXL 控制器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0" y="1234440"/>
            <a:ext cx="320040" cy="320040"/>
          </a:xfrm>
          <a:prstGeom prst="ellipse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Microsoft YaHei"/>
              </a:rPr>
              <a:t>SuperNIC 与 Chiplet 互联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1737360"/>
            <a:ext cx="320040" cy="320040"/>
          </a:xfrm>
          <a:prstGeom prst="ellipse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Microsoft YaHei"/>
              </a:rPr>
              <a:t>竞争格局与市场分析</a:t>
            </a:r>
          </a:p>
        </p:txBody>
      </p:sp>
      <p:sp>
        <p:nvSpPr>
          <p:cNvPr id="17" name="Oval 16"/>
          <p:cNvSpPr/>
          <p:nvPr/>
        </p:nvSpPr>
        <p:spPr>
          <a:xfrm>
            <a:off x="6217920" y="2240280"/>
            <a:ext cx="320040" cy="320040"/>
          </a:xfrm>
          <a:prstGeom prst="ellipse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Microsoft YaHei"/>
              </a:rPr>
              <a:t>总结与建议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24242"/>
                </a:solidFill>
                <a:latin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3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EB6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4D2F0"/>
                </a:solidFill>
                <a:latin typeface="Microsoft YaHe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调研背景与目标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3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EB6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4D2F0"/>
                </a:solidFill>
                <a:latin typeface="Microsoft YaHe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产品线总览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3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EB6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4D2F0"/>
                </a:solidFill>
                <a:latin typeface="Microsoft YaHe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物理层：Retimer 与 Smart Cable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3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EB6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4D2F0"/>
                </a:solidFill>
                <a:latin typeface="Microsoft YaHei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交换芯片与 CXL 控制器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3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EB6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4D2F0"/>
                </a:solidFill>
                <a:latin typeface="Microsoft YaHei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SuperNIC 与 Chiplet 互联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3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EB6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4D2F0"/>
                </a:solidFill>
                <a:latin typeface="Microsoft YaHei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竞争格局与市场分析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3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EB6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4D2F0"/>
                </a:solidFill>
                <a:latin typeface="Microsoft YaHei"/>
              </a:rPr>
              <a:t>Part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总结与建议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Microsoft YaHei"/>
              </a:rPr>
              <a:t>调研背景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424242"/>
                </a:solidFill>
                <a:latin typeface="Microsoft YaHei"/>
              </a:rPr>
              <a:t>• AI 大模型训练/推理对互联带宽的需求呈指数级增长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424242"/>
                </a:solidFill>
                <a:latin typeface="Microsoft YaHei"/>
              </a:rPr>
              <a:t>• PCIe 6.0 (64 GT/s) 与 CXL 3.x 成为下一代互连标准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424242"/>
                </a:solidFill>
                <a:latin typeface="Microsoft YaHei"/>
              </a:rPr>
              <a:t>• 国产替代浪潮下，国内厂商加速布局 Retimer / Switch / CXL 芯片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1">
                <a:solidFill>
                  <a:srgbClr val="424242"/>
                </a:solidFill>
                <a:latin typeface="Microsoft YaHei"/>
              </a:rPr>
              <a:t>• 核心问题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424242"/>
                </a:solidFill>
                <a:latin typeface="Microsoft YaHei"/>
              </a:rPr>
              <a:t>•   • 各细分赛道的技术壁垒与市场格局如何？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424242"/>
                </a:solidFill>
                <a:latin typeface="Microsoft YaHei"/>
              </a:rPr>
              <a:t>•   • 国产厂商的竞争定位与差异化优势在哪？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424242"/>
                </a:solidFill>
                <a:latin typeface="Microsoft YaHei"/>
              </a:rPr>
              <a:t>•   • 未来的技术演进路线与投资机会？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03520"/>
            <a:ext cx="10515600" cy="822960"/>
          </a:xfrm>
          <a:prstGeom prst="rect">
            <a:avLst/>
          </a:prstGeom>
          <a:solidFill>
            <a:srgbClr val="FADCDC"/>
          </a:solidFill>
          <a:ln w="12700">
            <a:solidFill>
              <a:srgbClr val="C6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6262E"/>
                </a:solidFill>
                <a:latin typeface="Microsoft YaHei"/>
              </a:rPr>
              <a:t>⚠ AI 集群规模从千卡向万卡演进，互联瓶颈成为系统性能的关键制约因素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Microsoft YaHei"/>
              </a:rPr>
              <a:t>技术壁垒与市场格局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005840"/>
            <a:ext cx="4937760" cy="41148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02412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539F"/>
                </a:solidFill>
                <a:latin typeface="Microsoft YaHei"/>
              </a:rPr>
              <a:t>🔧 硬件壁垒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424242"/>
                </a:solidFill>
                <a:latin typeface="Microsoft YaHei"/>
              </a:rPr>
              <a:t>• SerDes IP：64 GT/s PAM4 高速串行接口设计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424242"/>
                </a:solidFill>
                <a:latin typeface="Microsoft YaHei"/>
              </a:rPr>
              <a:t>• 信号完整性验证：43 dB 链路预算下 DSP 均衡、DFE、CDR 综合调优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424242"/>
                </a:solidFill>
                <a:latin typeface="Microsoft YaHei"/>
              </a:rPr>
              <a:t>• 互操作性认证：跨 CPU/GPU/SSD/NIC 多厂商兼容性测试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424242"/>
                </a:solidFill>
                <a:latin typeface="Microsoft YaHei"/>
              </a:rPr>
              <a:t>• PCI-SIG 合规：PCIe 6.0 认证流程复杂，周期长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4937760" cy="411480"/>
          </a:xfrm>
          <a:prstGeom prst="rect">
            <a:avLst/>
          </a:prstGeom>
          <a:solidFill>
            <a:srgbClr val="DCF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02412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229"/>
                </a:solidFill>
                <a:latin typeface="Microsoft YaHei"/>
              </a:rPr>
              <a:t>🌐 生态壁垒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424242"/>
                </a:solidFill>
                <a:latin typeface="Microsoft YaHei"/>
              </a:rPr>
              <a:t>• COSMOS 软件：Astera 的遥测/诊断/OTA 套件是真正护城河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424242"/>
                </a:solidFill>
                <a:latin typeface="Microsoft YaHei"/>
              </a:rPr>
              <a:t>• 客户绑定：Astera 已深度集成 NVIDIA/AWS/Meta 系统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424242"/>
                </a:solidFill>
                <a:latin typeface="Microsoft YaHei"/>
              </a:rPr>
              <a:t>• 先发时间差：Astera 领先 ~10 个月量产 PCIe 6.0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424242"/>
                </a:solidFill>
                <a:latin typeface="Microsoft YaHei"/>
              </a:rPr>
              <a:t>• 固件迭代：大规模部署中的 bug 修复和性能调优需要时间积累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Microsoft YaHei"/>
              </a:rPr>
              <a:t>澜起科技 M88RT61632 — 核心规格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Microsoft YaHei"/>
              </a:rPr>
              <a:t/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300" b="1">
                <a:solidFill>
                  <a:srgbClr val="00539F"/>
                </a:solidFill>
                <a:latin typeface="Microsoft YaHei"/>
              </a:rPr>
              <a:t>▸ 通道数：</a:t>
            </a:r>
            <a:r>
              <a:rPr sz="1300">
                <a:solidFill>
                  <a:srgbClr val="424242"/>
                </a:solidFill>
                <a:latin typeface="Microsoft YaHei"/>
              </a:rPr>
              <a:t>16 通道 PCIe 6.x / CXL 3.x Retimer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300" b="1">
                <a:solidFill>
                  <a:srgbClr val="00539F"/>
                </a:solidFill>
                <a:latin typeface="Microsoft YaHei"/>
              </a:rPr>
              <a:t>▸ 最大速率：</a:t>
            </a:r>
            <a:r>
              <a:rPr sz="1300">
                <a:solidFill>
                  <a:srgbClr val="424242"/>
                </a:solidFill>
                <a:latin typeface="Microsoft YaHei"/>
              </a:rPr>
              <a:t>64 GT/s（自研 PAM4 SerDes）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300" b="1">
                <a:solidFill>
                  <a:srgbClr val="00539F"/>
                </a:solidFill>
                <a:latin typeface="Microsoft YaHei"/>
              </a:rPr>
              <a:t>▸ 链路预算：</a:t>
            </a:r>
            <a:r>
              <a:rPr sz="1300">
                <a:solidFill>
                  <a:srgbClr val="424242"/>
                </a:solidFill>
                <a:latin typeface="Microsoft YaHei"/>
              </a:rPr>
              <a:t>高达 43 dB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300" b="1">
                <a:solidFill>
                  <a:srgbClr val="00539F"/>
                </a:solidFill>
                <a:latin typeface="Microsoft YaHei"/>
              </a:rPr>
              <a:t>▸ 封装：</a:t>
            </a:r>
            <a:r>
              <a:rPr sz="1300">
                <a:solidFill>
                  <a:srgbClr val="424242"/>
                </a:solidFill>
                <a:latin typeface="Microsoft YaHei"/>
              </a:rPr>
              <a:t>354-ball FCCSP 业界主流封装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300" b="1">
                <a:solidFill>
                  <a:srgbClr val="00539F"/>
                </a:solidFill>
                <a:latin typeface="Microsoft YaHei"/>
              </a:rPr>
              <a:t>▸ 分叉模式：</a:t>
            </a:r>
            <a:r>
              <a:rPr sz="1300">
                <a:solidFill>
                  <a:srgbClr val="424242"/>
                </a:solidFill>
                <a:latin typeface="Microsoft YaHei"/>
              </a:rPr>
              <a:t>1×16, 2×8, 4×4, 最多 8×2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300" b="1">
                <a:solidFill>
                  <a:srgbClr val="00539F"/>
                </a:solidFill>
                <a:latin typeface="Microsoft YaHei"/>
              </a:rPr>
              <a:t>▸ 兼容性：</a:t>
            </a:r>
            <a:r>
              <a:rPr sz="1300">
                <a:solidFill>
                  <a:srgbClr val="424242"/>
                </a:solidFill>
                <a:latin typeface="Microsoft YaHei"/>
              </a:rPr>
              <a:t>向下兼容 64/32/16/8/5/2.5 GT/s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300" b="1">
                <a:solidFill>
                  <a:srgbClr val="00539F"/>
                </a:solidFill>
                <a:latin typeface="Microsoft YaHei"/>
              </a:rPr>
              <a:t>▸ 低功耗：</a:t>
            </a:r>
            <a:r>
              <a:rPr sz="1300">
                <a:solidFill>
                  <a:srgbClr val="424242"/>
                </a:solidFill>
                <a:latin typeface="Microsoft YaHei"/>
              </a:rPr>
              <a:t>L0P / L1PM 低功耗模式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300" b="1">
                <a:solidFill>
                  <a:srgbClr val="00539F"/>
                </a:solidFill>
                <a:latin typeface="Microsoft YaHei"/>
              </a:rPr>
              <a:t>▸ 管理接口：</a:t>
            </a:r>
            <a:r>
              <a:rPr sz="1300">
                <a:solidFill>
                  <a:srgbClr val="424242"/>
                </a:solidFill>
                <a:latin typeface="Microsoft YaHei"/>
              </a:rPr>
              <a:t>SMBus / I3C 管理 + SPI/EEPROM 固件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188720"/>
            <a:ext cx="3657600" cy="4114800"/>
          </a:xfrm>
          <a:prstGeom prst="rect">
            <a:avLst/>
          </a:prstGeom>
          <a:solidFill>
            <a:srgbClr val="DCEBFA"/>
          </a:solidFill>
          <a:ln w="19050">
            <a:solidFill>
              <a:srgbClr val="005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539F"/>
                </a:solidFill>
                <a:latin typeface="Microsoft YaHei"/>
              </a:rPr>
              <a:t>💡 核心亮点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24242"/>
                </a:solidFill>
                <a:latin typeface="Microsoft YaHei"/>
              </a:rPr>
              <a:t/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424242"/>
                </a:solidFill>
                <a:latin typeface="Microsoft YaHei"/>
              </a:rPr>
              <a:t>✦ 全球第 2 家推出 PCIe 6.0 Retimer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424242"/>
                </a:solidFill>
                <a:latin typeface="Microsoft YaHei"/>
              </a:rPr>
              <a:t>✦ 自研 64 GT/s PAM4 SerDes IP — 国内极少数掌握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424242"/>
                </a:solidFill>
                <a:latin typeface="Microsoft YaHei"/>
              </a:rPr>
              <a:t>✦ 链路预算 43 dB 反超 Astera (~36 dB)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b="0">
                <a:solidFill>
                  <a:srgbClr val="424242"/>
                </a:solidFill>
                <a:latin typeface="Microsoft YaHei"/>
              </a:rPr>
              <a:t>✦ 2025 年营收 54.56 亿元 (+49.9% YoY)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Microsoft YaHei"/>
              </a:rPr>
              <a:t>代表产品对比：澜起 vs Astera Labs vs 谱瑞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18872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澜起 M88RT61632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Astera Aries (PCIe 6)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谱瑞 PS8926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  <a:latin typeface="Microsoft YaHei"/>
                        </a:rPr>
                        <a:t>速率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  <a:latin typeface="Microsoft YaHei"/>
                        </a:rPr>
                        <a:t>64 GT/s PAM4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  <a:latin typeface="Microsoft YaHei"/>
                        </a:rPr>
                        <a:t>64 GT/s PAM4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  <a:latin typeface="Microsoft YaHei"/>
                        </a:rPr>
                        <a:t>32 GT/s (PCIe 5.0)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  <a:latin typeface="Microsoft YaHei"/>
                        </a:rPr>
                        <a:t>通道数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  <a:latin typeface="Microsoft YaHe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  <a:latin typeface="Microsoft YaHe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  <a:latin typeface="Microsoft YaHe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  <a:latin typeface="Microsoft YaHei"/>
                        </a:rPr>
                        <a:t>链路预算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  <a:latin typeface="Microsoft YaHei"/>
                        </a:rPr>
                        <a:t>高达 43 dB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  <a:latin typeface="Microsoft YaHei"/>
                        </a:rPr>
                        <a:t>~36 dB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  <a:latin typeface="Microsoft YaHei"/>
                        </a:rPr>
                        <a:t>~36 dB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  <a:latin typeface="Microsoft YaHei"/>
                        </a:rPr>
                        <a:t>协议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  <a:latin typeface="Microsoft YaHei"/>
                        </a:rPr>
                        <a:t>PCIe 6.x / CXL 3.x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  <a:latin typeface="Microsoft YaHei"/>
                        </a:rPr>
                        <a:t>PCIe 6.x / CXL 3.x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  <a:latin typeface="Microsoft YaHei"/>
                        </a:rPr>
                        <a:t>PCIe 5.0 / CXL 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  <a:latin typeface="Microsoft YaHei"/>
                        </a:rPr>
                        <a:t>SerDes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  <a:latin typeface="Microsoft YaHei"/>
                        </a:rPr>
                        <a:t>自研 PAM4 IP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  <a:latin typeface="Microsoft YaHei"/>
                        </a:rPr>
                        <a:t>自研 DSP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  <a:latin typeface="Microsoft YaHei"/>
                        </a:rPr>
                        <a:t>自研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  <a:latin typeface="Microsoft YaHei"/>
                        </a:rPr>
                        <a:t>送样时间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  <a:latin typeface="Microsoft YaHei"/>
                        </a:rPr>
                        <a:t>2025.01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  <a:latin typeface="Microsoft YaHei"/>
                        </a:rPr>
                        <a:t>2024 (业界首家)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  <a:latin typeface="Microsoft YaHei"/>
                        </a:rPr>
                        <a:t>已量产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  <a:latin typeface="Microsoft YaHei"/>
                        </a:rPr>
                        <a:t>低功耗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  <a:latin typeface="Microsoft YaHei"/>
                        </a:rPr>
                        <a:t>L0P + L1PM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  <a:latin typeface="Microsoft YaHei"/>
                        </a:rPr>
                        <a:t>低功耗设计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  <a:latin typeface="Microsoft YaHei"/>
                        </a:rPr>
                        <a:t>支持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  <a:latin typeface="Microsoft YaHei"/>
                        </a:rPr>
                        <a:t>软件生态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  <a:latin typeface="Microsoft YaHei"/>
                        </a:rPr>
                        <a:t>GUI + SDK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  <a:latin typeface="Microsoft YaHei"/>
                        </a:rPr>
                        <a:t>COSMOS 遥测套件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24242"/>
                          </a:solidFill>
                          <a:latin typeface="Microsoft YaHei"/>
                        </a:rPr>
                        <a:t>基础工具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663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87878"/>
                </a:solidFill>
                <a:latin typeface="Microsoft YaHei"/>
              </a:rPr>
              <a:t>📌 关键差距：Astera 先发 ~10 个月，COSMOS 软件生态构成最大护城河；澜起在链路预算 (43 dB) 上反超。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36576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9F"/>
                </a:solidFill>
                <a:latin typeface="Microsoft YaHei"/>
              </a:rPr>
              <a:t>总结与建议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3474720" cy="3200400"/>
          </a:xfrm>
          <a:prstGeom prst="rect">
            <a:avLst/>
          </a:prstGeom>
          <a:solidFill>
            <a:srgbClr val="DCEBFA"/>
          </a:solidFill>
          <a:ln w="12700">
            <a:solidFill>
              <a:srgbClr val="005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457200" cy="45720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Microsoft YaHei"/>
              </a:rPr>
              <a:t>PCIe Retimer 市场呈现双寡头格局，Astera (86%) 与 澜起 (10.9%) 合计占 96.9%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1097280"/>
            <a:ext cx="3474720" cy="3200400"/>
          </a:xfrm>
          <a:prstGeom prst="rect">
            <a:avLst/>
          </a:prstGeom>
          <a:solidFill>
            <a:srgbClr val="DCEBFA"/>
          </a:solidFill>
          <a:ln w="12700">
            <a:solidFill>
              <a:srgbClr val="005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39" y="1234440"/>
            <a:ext cx="457200" cy="45720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39" y="18288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Microsoft YaHei"/>
              </a:rPr>
              <a:t>国产替代空间巨大，但生态壁垒 (软件/客户绑定) 是最大挑战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18" y="1097280"/>
            <a:ext cx="3474720" cy="3200400"/>
          </a:xfrm>
          <a:prstGeom prst="rect">
            <a:avLst/>
          </a:prstGeom>
          <a:solidFill>
            <a:srgbClr val="DCEBFA"/>
          </a:solidFill>
          <a:ln w="12700">
            <a:solidFill>
              <a:srgbClr val="005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8" y="1234440"/>
            <a:ext cx="457200" cy="457200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8" y="18288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4242"/>
                </a:solidFill>
                <a:latin typeface="Microsoft YaHei"/>
              </a:rPr>
              <a:t>CXL 内存池化与 AI 集群互联是未来 3-5 年高确定性增长赛道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54880"/>
            <a:ext cx="10972800" cy="1188720"/>
          </a:xfrm>
          <a:prstGeom prst="rect">
            <a:avLst/>
          </a:prstGeom>
          <a:solidFill>
            <a:srgbClr val="F0F5FA"/>
          </a:solidFill>
          <a:ln w="19050">
            <a:solidFill>
              <a:srgbClr val="005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9204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539F"/>
                </a:solidFill>
                <a:latin typeface="Microsoft YaHei"/>
              </a:rPr>
              <a:t>📌 建议重点关注：澜起科技 (Retimer + CXL)、芯动科技 (交换芯片)、以及硅光/CPO 等前沿技术布局。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