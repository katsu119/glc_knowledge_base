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Astera Labs 全面调研报告</a:t>
            </a:r>
            <a:endParaRPr sz="3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0"/>
                </a:solidFill>
                <a:latin typeface="微软雅黑"/>
              </a:rPr>
              <a:t>四大产品线 (Aries / Leo / Scorpio / Taurus) · 竞争分析 · 市场定位</a:t>
            </a:r>
            <a:endParaRPr sz="1800" b="0">
              <a:solidFill>
                <a:srgbClr val="C8DCF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微软雅黑"/>
              </a:rPr>
              <a:t>汇报人：葛良晨</a:t>
            </a:r>
            <a:endParaRPr sz="14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微软雅黑"/>
              </a:rPr>
              <a:t>2026年06月23日</a:t>
            </a:r>
            <a:endParaRPr sz="1200" b="0">
              <a:solidFill>
                <a:srgbClr val="787878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539F"/>
                </a:solidFill>
                <a:latin typeface="微软雅黑"/>
              </a:rPr>
              <a:t>汇报大纲</a:t>
            </a:r>
            <a:endParaRPr sz="26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Astera Labs 公司背景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四大产品线总览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224028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Aries — PCIe/CXL 智能重定时器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Leo — CXL 智能内存控制器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217920" y="123444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Scorpio — 智能 Fabric 交换芯片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217920" y="173736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Taurus — 以太网智能线缆模块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217920" y="224028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COSMOS 软件平台与生态壁垒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217920" y="2743200"/>
            <a:ext cx="292608" cy="292608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</a:rPr>
              <a:t>竞争格局总结</a:t>
            </a:r>
            <a:endParaRPr sz="13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1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Astera Labs 公司背景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 descr="astera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235" y="1035050"/>
            <a:ext cx="6089015" cy="34251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Astera Labs 公司概览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基本信息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成立: 2017年, Santa Clara CA → 2025年迁至 San Jose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IPO: 2024年3月 Nasdaq: ALAB, 估值 ~$5.5B, 募资 ~$713M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商业模式: Fabless 半导体设计公司 (TSMC 代工)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三位创始人全部来自 Texas Instruments (TI) — 模拟/混合信号设计深厚积累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创始人基因 (TI 铁三角)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Jitendra Mohan (CEO) + Sanjay Gajendra + Casey Morrison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三人在 TI 共事后观察到数据中心连接技术无法跟上 AI/ML 发展步伐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在 Sanjay Gajendra 的车库中开始创业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获 2026 年度安永全球企业家大奖 (EY World Entrepreneur Of The Year)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微软雅黑"/>
              </a:rPr>
              <a:t>⚠ 核心定位: 「Purpose-Built Connectivity for Rack-Scale AI」— 专为机架级 AI 构建的连接方案供应商</a:t>
            </a:r>
            <a:endParaRPr sz="1200" b="0">
              <a:solidFill>
                <a:srgbClr val="C6262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融资历程与 IPO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融资历程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Series B (2020.04): Intel Capital, Sutter Hill Ventures 等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Series C (2021.09): $50M, Fidelity 领投, 估值 ~$950M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Series D (2022.11): $150M, 估值超 $3B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IPO (2024.03): $713M, Morgan Stanley &amp; JPMorgan 承销, 估值 ~$5.5B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关键事件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IPO 前曾拒绝 Marvell 收购要约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Intel Capital 为早期投资方 — Intel 是 PCIe/CXL 标准核心推动者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Post-IPO: 扩展台湾/印度/以色列研发中心, 加入 Arm Total Design 生态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核心定位：三层架构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定位层次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物理层: Aries Retimer / Smart Cable — 解决高速信号完整性问题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架构层: Scorpio Fabric Switch — GPU/NIC/Storage 交换互连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系统层: COSMOS — Telemetry &amp; Fleet Management 统一管理平台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核心差异化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开放标准 (PCIe/CXL/Ethernet) vs 私有协议 (NVLink)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「连接的中立国 (Switzerland of Connectivity)」定位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不与 GPU 厂商直接竞争，充当 AI Infra 连接层供应商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三类 IP 支柱: SerDes/DSP IP + Switching Fabric IP + CXL Protocol IP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COSMOS 是软件粘合剂，将所有硬件统一到单一管理平台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财务表现 (FY2025)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微软雅黑"/>
              </a:rPr>
              <a:t>📊 收入增长轨迹</a:t>
            </a:r>
            <a:endParaRPr sz="13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Q1 2025: $159.4M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Q2 2025: $191.9M (+20%)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Q3 2025: $230.6M (+20%)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Q4 2025: $270.6M (+17%)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FY2025 全年: $852.5M (+93% YoY)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Q1 2026: $308.4M (+93% YoY) → 年化 ~$1.23B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3年间收入增长约 10 倍, 由 AI DC 建设推动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💰 利润率与估值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FY2025 毛利率: 75.7% (接近 NVIDIA 水平)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FY2025 净利润: $219.1M (净利率 25.7%)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Q1 2026 毛利率: 76.2%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行业对比: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NVIDIA 75-78%, Broadcom 65-70%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Credo ~60%, Marvell ~60%+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⚠ 客户集中度: 推测前2-3大客户占总收入 &gt;50%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2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四大产品线总览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Astera Labs 全产品线 (星座系列)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产品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类型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协议/标准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核心价值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目标场景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Aries Retimer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Smart DSP Retimer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PCIe 6 / CXL 3.x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信号再生, DSP 均衡, 43 dB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AI 服务器, AEC, 存储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Aries Smart Cable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Active Cable Module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PCIe 6 / CXL 3.x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7m 铜缆, 64 GT/s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机架内 GPU-NIC 互联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Leo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CXL Memory Controller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CXL 3.1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DDR5 内存扩展/池化, max 2TB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内存池化, KV Cache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Scorpio P-Series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Smart Fabric Switch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PCIe 6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PCIe Fabric, 32-320 lanes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GPU/存储资源池化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Scorpio X-Series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Smart Fabric Switch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Memory Semantic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GPU Scale-Up Fabric, Hypercast™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万卡级 GPU 集群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Taurus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Active Cable Module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Ethernet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800G per link, 7m, &lt;100ns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ToR-NIC, Scale-Out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COSMOS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Software Platform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Telemetry, Fleet Mgmt, RAS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全硬件统一管理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13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产品战略: 从 Aries (物理层 DSP) → Scorpio (交换) → Leo (内存) → Taurus (以太网) 的平台扩展策略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产品之间的战略关系：平台扩展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技术核心 → 三个 IP 支柱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SerDes/DSP IP: Aries 系列基础 (解决信号完整性问题)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Switching Fabric IP: Scorpio 系列基础 (解决多节点路由问题)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Protocol IP: Leo 基础 (解决内存解耦问题)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产品演进路线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Aries Retimer → 物理层基础, 所有高速信号都需要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Aries Smart Cable → 将 Retimer 集成到 cable paddle card, 实现智能电缆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Scorpio P-Series → 从 Retimer 向上扩展到交换, 利用同一 PCIe 6 物理层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Scorpio X-Series → 从标准 PCIe 扩展到 memory-semantic, 进入 GPU scale-up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Leo → 从连接扩展到内存, 利用 CXL 协议做内存扩展/池化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Taurus → 从 PCIe 扩展到 Ethernet (scale-out), 覆盖数据中心另一大连接领域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COSMOS → 将所有硬件统一管理, 软件粘合剂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3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Aries — PCIe/CXL 智能重定时器与智能线缆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7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Aries Smart DSP Retimer — 产品定义与技术架构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🔧 产品定义与规格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PCIe 6.x / CXL 3.x 智能 DSP 重定时器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超高速 DSP SerDes 核心: 全数字 DSP 引擎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多阶自适应 FFE/DFE 均衡, 应对 64 GT/s 极高波特率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Smart Gearbox: 硬件级协议转换引擎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PCIe 6.x Flit-mode ↔ Non-Flit-mode 无缝翻译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遥测与诊断微控制器: 挂载 COSMOS 软件体系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内置 LTSSM 记录器 + 非破坏性硬件眼图扫描 (RX Margining)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业界首家量产 PCIe 6.0 Retimer (2024)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⚡ 高级特性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信号延伸: 在极高损耗信道下传输距离提升高达 3 倍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利旧降本: 老旧 CPU/主板无缝对接最新一代高速加速器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链路预算: ~36 dB (被澜起 43 dB 反超)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自研 DSP: 核心 PHY 层技术自主可控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Aries Smart Cable: Retimer 集成到 cable paddle card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支持直连 + 扇出电缆, PCIe 5.0 最远 7m, 6.x 最远 6m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自动方向检测 + 极性校正 + Lane Reversal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热插拔 + 不停机固件升级 + COSMOS 遥测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7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Aries Smart Cable Module — 核心规格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协议：</a:t>
            </a:r>
            <a:r>
              <a:rPr sz="1200">
                <a:solidFill>
                  <a:srgbClr val="424242"/>
                </a:solidFill>
                <a:latin typeface="微软雅黑"/>
              </a:rPr>
              <a:t>PCIe 5.0 / 6.x / CXL 2.0 / 3.x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速率：</a:t>
            </a:r>
            <a:r>
              <a:rPr sz="1200">
                <a:solidFill>
                  <a:srgbClr val="424242"/>
                </a:solidFill>
                <a:latin typeface="微软雅黑"/>
              </a:rPr>
              <a:t>64/32/8/5/2.5 GT/s, 自动链路均衡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PCIe 5.0 距离：</a:t>
            </a:r>
            <a:r>
              <a:rPr sz="1200">
                <a:solidFill>
                  <a:srgbClr val="424242"/>
                </a:solidFill>
                <a:latin typeface="微软雅黑"/>
              </a:rPr>
              <a:t>最远 7 米, 多种铜缆规格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PCIe 6.x 距离：</a:t>
            </a:r>
            <a:r>
              <a:rPr sz="1200">
                <a:solidFill>
                  <a:srgbClr val="424242"/>
                </a:solidFill>
                <a:latin typeface="微软雅黑"/>
              </a:rPr>
              <a:t>最远 6 米, 细径铜缆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分叉模式：</a:t>
            </a:r>
            <a:r>
              <a:rPr sz="1200">
                <a:solidFill>
                  <a:srgbClr val="424242"/>
                </a:solidFill>
                <a:latin typeface="微软雅黑"/>
              </a:rPr>
              <a:t>1×16, 2×8, 4×4, 8×2 灵活配置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高级特性：</a:t>
            </a:r>
            <a:r>
              <a:rPr sz="1200">
                <a:solidFill>
                  <a:srgbClr val="424242"/>
                </a:solidFill>
                <a:latin typeface="微软雅黑"/>
              </a:rPr>
              <a:t>自动方向检测 + 极性校正 + Lane Reversal + 热插拔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诊断：</a:t>
            </a:r>
            <a:r>
              <a:rPr sz="1200">
                <a:solidFill>
                  <a:srgbClr val="424242"/>
                </a:solidFill>
                <a:latin typeface="微软雅黑"/>
              </a:rPr>
              <a:t>接收端 Lane Margining (时序+电压), PRBS 生成/检查</a:t>
            </a:r>
            <a:endParaRPr sz="120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7229"/>
                </a:solidFill>
                <a:latin typeface="微软雅黑"/>
              </a:rPr>
              <a:t>▸ 固件：</a:t>
            </a:r>
            <a:r>
              <a:rPr sz="1200">
                <a:solidFill>
                  <a:srgbClr val="424242"/>
                </a:solidFill>
                <a:latin typeface="微软雅黑"/>
              </a:rPr>
              <a:t>不停机固件升级 (Non-disruptive FW Update)</a:t>
            </a:r>
            <a:endParaRPr sz="120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2004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7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💡 核心卖点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24242"/>
                </a:solidFill>
                <a:latin typeface="微软雅黑"/>
              </a:rPr>
              <a:t>✦ PCIe 6.0 业界首家量产</a:t>
            </a:r>
            <a:endParaRPr sz="11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24242"/>
                </a:solidFill>
                <a:latin typeface="微软雅黑"/>
              </a:rPr>
              <a:t>✦ 7m 铜缆突破传统 DAC 距离极限</a:t>
            </a:r>
            <a:endParaRPr sz="11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24242"/>
                </a:solidFill>
                <a:latin typeface="微软雅黑"/>
              </a:rPr>
              <a:t>✦ COSMOS 遥测: 实时监控眼图张开度</a:t>
            </a:r>
            <a:endParaRPr sz="11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24242"/>
                </a:solidFill>
                <a:latin typeface="微软雅黑"/>
              </a:rPr>
              <a:t>✦ 灵活分叉 + 自动均衡 + 即插即用</a:t>
            </a:r>
            <a:endParaRPr sz="11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11" name="Picture 10" descr="aries_sc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255" y="3676015"/>
            <a:ext cx="1866265" cy="2270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Aries 竞争产品对比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Aries (PCIe 6)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澜起 M88RT61632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谱瑞 PS8926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Credo BlueHeron 224G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速率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64 GT/s PAM4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64 GT/s PAM4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32 GT/s (PCIe 5.0)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224 Gbps/通道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通道数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16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多协议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链路预算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~36 dB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高达 43 dB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~36 dB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40+ dB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5.0 / CXL 2.0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UALink/ESUN/Ethernet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SerDes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DSP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PAM4 IP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自研 3nm DSP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送样时间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2024 (业界首家)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2025.01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2026.01 送样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软件生态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COSMOS 遥测套件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GUI + SDK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基础工具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PILOT 链路预测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制程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3nm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428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📌 关键差距: Astera 先发 ~10个月 + COSMOS 软件生态是最大护城河; 澜起链路预算 43 dB 反超; Credo 3nm 224G 多协议是未来最强对手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  <p:pic>
        <p:nvPicPr>
          <p:cNvPr id="13" name="Picture 12" descr="M88RT61632_Block_Diagra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0" y="4179570"/>
            <a:ext cx="2461895" cy="233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4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Leo — CXL 智能内存控制器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Leo CXL Smart Memory Controller — 产品定义与技术架构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B6E1F"/>
                </a:solidFill>
                <a:latin typeface="微软雅黑"/>
              </a:rPr>
              <a:t>🔧 产品定义与规格</a:t>
            </a:r>
            <a:endParaRPr sz="1300" b="1">
              <a:solidFill>
                <a:srgbClr val="EB6E1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智能内存控制器芯片 (CXL Smart Memory Controller)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低延迟数据路径中枢: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前端: 最高 x16 CXL/PCIe 接口控制器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后端: 2 通道 DDR5 最高 5600 MT/s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打通计算与存储的高速直连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分层池化引擎 (P-Series):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硬件级动态寻址, 支持跨节点分配内存资源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高级 RAS 微控制器: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独立纠错单元 + RDIMM 级故障隔离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⚡ 高级特性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E-Series (内存扩展):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打破「内存墙」— 单节点内存容量直接翻倍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最高可扩展 2TB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解耦 CPU/GPU 与内存条的强绑定关系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P-Series (内存池化):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消除 Stranded Memory (闲置内存孤岛)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按需划出, 用完收回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大幅降低 TCO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降本增效: 昂贵 HBM 专注高算力,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大容量需求转移到便宜 DDR5 内存池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13" name="Picture 12" descr="CXL_Application_C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668520"/>
            <a:ext cx="3657600" cy="17422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Leo 竞争产品对比 — CXL 内存控制器赛道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微软雅黑"/>
              </a:rPr>
              <a:t>🏆 Astera Leo</a:t>
            </a:r>
            <a:endParaRPr sz="13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1.1 Smart Memory Controller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E-Series: 单节点 2TB 内存扩展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P-Series: 跨节点内存池化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集成 DDR5 控制器 + RAS 微控制器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Retimer (Aries) + Leo 组合 = 全栈 CXL 方案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COSMOS 统一遥测管理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最大优势: 「Retimer + CXL Ctrl + 软件」全栈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⚔️ 竞争对手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澜起 M88MX6852: CXL 3.2 MXC, DDR5-8000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内置 RISC-V 处理器, 部分节点全球领跑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1211-ball FCBGA, 2025 年底送样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Samsung CMM-D: CXL 内存模块 + E3.S 热插拔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SK Hynix: CXL 内存模块 + 自研 CXL 控制器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Marvell Structera X: CXL 2.0 + Arm Neoverse V2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X2404: 12 条 DIMM; X2504: DDR5 6400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+ 内联 LZ4 压缩 + AES-XTS 256 加密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UnifabriX: CXL 3.0 Smart Memory Node (2U)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13" name="Picture 12" descr="montage_ca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30" y="4520565"/>
            <a:ext cx="3925570" cy="1691640"/>
          </a:xfrm>
          <a:prstGeom prst="rect">
            <a:avLst/>
          </a:prstGeom>
        </p:spPr>
      </p:pic>
      <p:pic>
        <p:nvPicPr>
          <p:cNvPr id="14" name="Picture 13" descr="Marvel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11295"/>
            <a:ext cx="3131185" cy="22929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CXL 内存池化 — 业界全景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机架内 (铜) — 已量产商用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Astera Leo + Aries: AEC 线缆 + E3.S 内存扩展模块, Retimer CDR 恢复 PAM4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Samsung/SK Hynix: E3.S 热插拔 + CXL 控制器 + DDR5, CXL Flit 直接译为 DDR5 RAS/CAS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系统级池化 — 展示动态切分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UnifabriX: 2U CXL 3.0 Smart Memory Node + Switch 硬件路由 + Fabric Manager 秒级动态分配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跨机柜 (光) — 终局形态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Ayar Labs TeraPHY: 硅光 Chiplet 与 CPU/Switch 同基板封装 → 单模光纤跨 50m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阿里云 磐久 CXL + LPO: LPO 去 DSP 光模块, CXL 时钟直接驱动光器件, 省 DSP 延迟 ~数十 ns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CXL.mem vs RDMA 本质差异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CXL.mem: Load/Store 内存语义, 64B 缓存行硬件直飞, 延迟 100~300 ns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RDMA: 消息传递语义, 多级拷贝 + 协议栈, 延迟 1~5 μs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将总线拓扑拉伸到数据中心规模 — 硬件状态机直飞, 零网卡, 零拆包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8" name="Picture 7" descr="cxl_memory_pooling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65" y="4506595"/>
            <a:ext cx="8696325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5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Scorpio — 智能 Fabric 交换芯片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6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Scorpio Smart Fabric Switch — 产品定义与技术架构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62E"/>
                </a:solidFill>
                <a:latin typeface="微软雅黑"/>
              </a:rPr>
              <a:t>🔧 产品定义与规格</a:t>
            </a:r>
            <a:endParaRPr sz="1300" b="1">
              <a:solidFill>
                <a:srgbClr val="C6262E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P-Series (PCIe 6 Fabric Switch):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PCIe/CXL 混合流量调度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32-320 Lanes 灵活配置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全矩阵 Crossbar, 无阻塞交换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X-Series (Memory Semantic Fabric):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GPU Scale-Up 专用 Fabric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专攻大规模同构 GPU 后端连接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Hypercast™ 网络内计算引擎: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芯片内部硬件数据复制与聚合模块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直接在交换层进行简单算术逻辑运算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超宽 Crossbar: 端到端线速直通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⚡ 高级特性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极低延迟单跳互联: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AI 集群在一个拓扑层级内完成点对点通信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消除多级路由带来的延迟瓶颈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算力卸载 (Hypercast™):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硬件引擎接管 AllGather/AllReduce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释放 GPU 算力用于纯粹模型训练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填补 Broadcom/Microchip 之间的空白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业界最高 Lane 数: 320 Lanes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13" name="Picture 12" descr="Innosilicon_new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9930" y="4939665"/>
            <a:ext cx="2167255" cy="1504950"/>
          </a:xfrm>
          <a:prstGeom prst="rect">
            <a:avLst/>
          </a:prstGeom>
        </p:spPr>
      </p:pic>
      <p:pic>
        <p:nvPicPr>
          <p:cNvPr id="14" name="Picture 13" descr="xconn_k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890" y="4653280"/>
            <a:ext cx="364363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Scorpio 竞争产品对比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Scorpio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Broadcom PEX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芯动 GX9120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Microchip Switchtec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XConn XC50256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Lane 数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32-320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104 / 144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120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多种配置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256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 + CXL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Gen5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Gen5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Gen5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2.0 / PCIe 5.0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延迟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超低延迟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115 ns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业内最低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特色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Hypercast™ In-Network Compute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成熟生态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PUF + 防火墙, 16 GPU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长期积累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 Fabric Manager + MLD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定位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AI Fabric 专用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通用 PCIe 交换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国产破局者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性价比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CXL/PCIe 双模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 P 系列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已量产多年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2026.02 发布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584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📌 Astera Scorpio 的核心差异化: Hypercast™ 网络内计算 (卸载 AllReduce) + Memory Semantic Fabric (直指 GPU Scale-Up)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PCIe Switch 市场格局：从垄断到国产突围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国际格局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Broadcom (博通) + Microchip (微芯) 长期垄断中高端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Broadcom 在 AI 服务器占据绝对主导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Astera Labs Scorpio 系列在 PCIe/CXL 交换 + Retimer 全球领先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国产破局 (2025-2026 落地元年)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芯动科技 GX9120: 120 通道 PCIe Gen5, 115ns 延迟, 16 卡全互联 (2026.02 武汉发布)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数渡科技: 104 通道 PCIe 5.0 Switch, 深度绑定华为昇腾 (910B/950), 万通发展控股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井芯微电子 JXW8848: 全国产自主 Switch, 2025H2 量产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澜起科技: Retimer + PCIe Switch 研发中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三大核心应用场景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GPU 高速互联: CPU/GPU/NIC/NVMe 间动态调度, 支持 All-Reduce 参数同步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资源池化 (CDI): 物理分区/虚拟化灵活分配 GPU/存储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对等通信 (NTB): GPU Direct, 绕过 CPU 直接读写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8" name="Picture 7" descr="Innosilicon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926840"/>
            <a:ext cx="4572000" cy="23060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6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Taurus — 以太网智能线缆模块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Taurus Ethernet Smart Cable Module — 产品定义与技术架构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9600"/>
                </a:solidFill>
                <a:latin typeface="微软雅黑"/>
              </a:rPr>
              <a:t>🔧 产品定义与规格</a:t>
            </a:r>
            <a:endParaRPr sz="1300" b="1">
              <a:solidFill>
                <a:srgbClr val="C89600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以太网有源铜缆模块 (ACC), 面向 Scale-Out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集成于 QSFP-DD / QSFP-DD800 / OSFP 标准接口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支持 200G / 400G / 800G 三代速率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以太网定制 DSP SerDes 核心: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专为 200/400/800GbE 复杂以太网环境优化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补偿 100G/Lane PAM4 铜线缆高插入损耗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聚合/解聚合模块 (MAC/PHY 联合):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硬件级多通道速率拆分与组合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穿透式直通数据路径: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• 仅做物理层信号调理, 不抓包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⚡ 高级特性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超低延迟: 端到端 &lt; 100 ns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(数据中心网络关键指标)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智能速率匹配: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两端不对等速率即插即连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  • 例: 200G 网卡 ↔ 400G 交换机端口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功耗比 AOC 低高达 50%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深度线缆诊断 + 安全固件加载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不停机固件升级 (最高 1 MHz I²C)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符合 CMIS 通用管理接口规范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✦ PTP 精密时钟协议 fanout 缓冲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pic>
        <p:nvPicPr>
          <p:cNvPr id="13" name="Picture 12" descr="taur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980" y="4269105"/>
            <a:ext cx="1504315" cy="1807210"/>
          </a:xfrm>
          <a:prstGeom prst="rect">
            <a:avLst/>
          </a:prstGeom>
        </p:spPr>
      </p:pic>
      <p:pic>
        <p:nvPicPr>
          <p:cNvPr id="14" name="Picture 13" descr="Credo_A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080" y="4269105"/>
            <a:ext cx="2118360" cy="2118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Taurus 产品矩阵 (按速率)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总速率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料号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封装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线速率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距离/线规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200G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EM200-QDX-A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QSFP-DD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25G 或 50G/Lane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3m 34AWG / 3m 32AWG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400G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EM400-QDX-A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QSFP-DD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50G 或 100G/Lane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3m 32AWG / 3m 30AWG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400G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EM400-EPS-A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OSFP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50G 或 100G/Lane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3m 32AWG / 3m 30AWG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800G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EM800-QDX-A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QSFP-DD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100G/Lane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3m 30AWG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800G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EM800-EPS-A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OSFP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100G/Lane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3m 30AWG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552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应用场景: ToR Switch ↔ Server NIC / Leaf Switch / Breakout → 多 Server NIC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Taurus 竞争产品对比 — AEC 赛道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Taurus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Credo ZeroFlap AEC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澜起 PCIe 6 AEC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Marvell/Broadcom DSP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Ethernet (Scale-Out)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+ Ethernet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6.x / CXL 3.x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Ethernet DSP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最高速率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800G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1.6T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PCIe 6.0 x16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800G+ DSP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延迟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&lt; 100 ns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超低延迟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距离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3m (30-34 AWG)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7m (含 PCIe)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机箱内外多场景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特色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PTP + 速率匹配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市占率 ~88%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国内率先推出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集成于安费诺/莫仕接头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量产状态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已量产+PCIe 6 送样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2026.01 发布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已量产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软件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COSMOS 遥测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PILOT 链路预测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GUI + SDK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OEM 集成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13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📌 关键格局: AEC 市场 Credo 以 ~88% 市占率主导, Astera 从 PCIe Aries 扩展到 Ethernet Taurus 实现双协议覆盖, 澜起从 Retimer 芯片切入 AEC 线缆实现垂直整合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  <p:pic>
        <p:nvPicPr>
          <p:cNvPr id="9" name="Picture 8" descr="Credo_ZeroFlap_Opt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4299585"/>
            <a:ext cx="2855595" cy="2086610"/>
          </a:xfrm>
          <a:prstGeom prst="rect">
            <a:avLst/>
          </a:prstGeom>
        </p:spPr>
      </p:pic>
      <p:pic>
        <p:nvPicPr>
          <p:cNvPr id="10" name="Picture 9" descr="Credo_BlueHer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615" y="4766310"/>
            <a:ext cx="1584960" cy="16198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7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COSMOS 软件平台与生态壁垒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COSMOS — 软件粘合剂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COSMOS 是什么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Astera Labs 的统一遥测与管理软件平台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将所有硬件产品 (Aries/Scorpio/Leo/Taurus) 统一到单一管理界面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实时监控眼图张开度、均衡器水平、结温等关键指标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可配置中断告警 + Full C/Python SDK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COSMOS 的商业价值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不是卖软件, 而是用软件绑定硬件 — 提高客户迁移成本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让运维团队能够管理数万条链路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加速故障隔离与诊断 → 降低数据中心停机时间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为什么 COSMOS 是真正的护城河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硬件规格可以追赶, 但运维软件 + 海量部署验证需要时间积累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澜起有 GUI + SDK, Credo 有 PILOT, 但 COSMOS 的跨产品线统一性是独有优势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云厂商深度集成: NVIDIA/AWS/Meta 已经将 COSMOS 嵌入运维流程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微软雅黑"/>
              </a:rPr>
              <a:t>⚠ COSMOS 是 Astera 最被低估的资产 — 软件生态的迁移成本远高于芯片替换成本</a:t>
            </a:r>
            <a:endParaRPr sz="1200" b="0">
              <a:solidFill>
                <a:srgbClr val="C6262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Astera Labs 全栈竞争壁垒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39F"/>
                </a:solidFill>
                <a:latin typeface="微软雅黑"/>
              </a:rPr>
              <a:t>🔧 硬件壁垒</a:t>
            </a:r>
            <a:endParaRPr sz="13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SerDes/DSP IP: 自研核心 PHY 层技术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Aries 系列基础, PAM4/224G 演进路线清晰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Switching Fabric IP: Scorpio 核心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320 Lanes Crossbar + Hypercast™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Protocol IP: Leo 核心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国内极少数掌握该层级技术的厂商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先发优势: PCIe 6 Retimer 领先 ~10个月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全栈整合: 单一供应商同时提供 Retimer + Switch + Memory Ctrl + Cable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29"/>
                </a:solidFill>
                <a:latin typeface="微软雅黑"/>
              </a:rPr>
              <a:t>🌐 软件与生态壁垒</a:t>
            </a:r>
            <a:endParaRPr sz="1300" b="1">
              <a:solidFill>
                <a:srgbClr val="0072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COSMOS 遥测套件: 跨产品线统一管理平台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Full C/Python SDK + 实时链路诊断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客户绑定: 已深度集成 NVIDIA/AWS/Meta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互操作性认证矩阵: CPU/GPU/SSD/NIC 全覆盖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超大规模验证: 万卡集群极限工况考验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不停机固件升级: 所有产品线均支持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产业链位置: 「中立连接供应商」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  不与客户 (NVIDIA/AMD/Intel) 直接竞争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微软雅黑"/>
              </a:rPr>
              <a:t>Part 8</a:t>
            </a:r>
            <a:endParaRPr sz="16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竞争格局总结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全栈竞争矩阵 (2026)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公司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Retimer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PCIe Switch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CXL Ctrl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AEC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软件平台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Astera Labs 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Broadcom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NVIDIA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自用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NVSwitch(私有)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间接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自用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Credo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Marvell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定制ASIC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Microchip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澜起科技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研发中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Samsung/SK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★★★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10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428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微软雅黑"/>
              </a:rPr>
              <a:t>★ 数量表示竞争力强度 | 只有 Astera Labs 覆盖全部 4 条硬件产品线 + 软件平台 — 全栈策略是核心优势, 但也意味着同时与多家公司竞争</a:t>
            </a:r>
            <a:endParaRPr sz="900" b="0">
              <a:solidFill>
                <a:srgbClr val="78787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关键差异化维度对比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515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Astera Labs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Broadcom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Credo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澜起科技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NVIDIA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商业模式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Fabless 连接芯片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多元化半导体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Fabless 连接芯片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Fabless 内存接口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垂直整合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核心产品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Retimer+Switch+CXL+AEC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Switch+Retimer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AEC+Retimer+DSP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Retimer+CXL+AEC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GPU+NVSwitch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协议阵营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开放标准 (PCIe/CXL)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开放+私有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开放+私有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开放标准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私有 (NVLink)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软件生态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COSMOS ★★★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基础工具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PILOT ★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GUI+SDK ★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CUDA ★★★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AI 定位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连接层供应商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通用交换机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SerDes IP 供应商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内存互连+高速运力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全栈 AI 平台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FY2025 收入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$852.5M (+93%)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$437M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¥54.56亿 (+50%)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—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中国市场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未直接进入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已进入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有限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主场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24242"/>
                          </a:solidFill>
                        </a:rPr>
                        <a:t>受限</a:t>
                      </a:r>
                      <a:endParaRPr sz="900">
                        <a:solidFill>
                          <a:srgbClr val="424242"/>
                        </a:solidFill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「Switzerland of Connectivity」定位分析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中立定位的前提条件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GPU 市场不是 NVIDIA 垄断 (需要 AMD/Intel/自研 ASIC 替代品) — 当前 NVIDIA &gt;80%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Hyperscaler 维持多 vendor 策略 — 确实在推 (Google TPU, Amazon Trainium, MS Maia)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PCIe/CXL 持续演进 — 利好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NVIDIA 不开放 NVLink — 利好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核心矛盾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NVIDIA 越封闭 → Astera 越有价值 (开放标准替代方案)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但 Astera 短期最大客户是 NVIDIA GPU 集群中的连接需求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(因为 NVIDIA GPU 也需要 PCIe retimer/switch 来连接 NIC/NVMe 等非 NVLink 设备)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风险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NVIDIA 完全开放 NVLink 或收购一家连接公司 → 中立定位失效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Marvell 2026 年收购 XConn ($5.4亿) + Celestial AI ($32.5亿) → 竞争加剧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10515600" cy="777240"/>
          </a:xfrm>
          <a:prstGeom prst="rect">
            <a:avLst/>
          </a:prstGeom>
          <a:solidFill>
            <a:srgbClr val="FADCDC"/>
          </a:solidFill>
          <a:ln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62E"/>
                </a:solidFill>
                <a:latin typeface="微软雅黑"/>
              </a:rPr>
              <a:t>⚠ Marvell 两笔重大收购合计 ~$38亿, 正在从「部分竞争」升级为「全面竞争」</a:t>
            </a:r>
            <a:endParaRPr sz="1200" b="0">
              <a:solidFill>
                <a:srgbClr val="C6262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微软雅黑"/>
              </a:rPr>
              <a:t>总结与展望</a:t>
            </a:r>
            <a:endParaRPr sz="2200" b="1">
              <a:solidFill>
                <a:srgbClr val="00539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核心结论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Astera Labs 是 AI Infra 连接层最全面的供应商 — 覆盖 Retimer + Switch + CXL Ctrl + AEC + 软件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COSMOS 软件平台是最被低估的护城河 — 硬件可以追赶, 软件生态 + 客户集成需要数年积累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以开放标准 (PCIe/CXL) 对抗私有协议 (NVLink), 「中立定位」是核心战略资产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竞争态势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Retimer: 澜起 (43 dB 链路预算反超) + Credo (3nm 224G 多协议) 是最大威胁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Memory: 澜起 MXC (CXL 3.2) 部分节点全球领跑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Switch: 芯动 GX9120 破局, Broadcom 仍是最大对手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AEC: Credo 以 ~88% 市占率主导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Marvell 收购 XConn + Celestial AI 正在重塑竞争格局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539F"/>
                </a:solidFill>
                <a:latin typeface="微软雅黑"/>
              </a:rPr>
              <a:t>值得关注的趋势</a:t>
            </a:r>
            <a:endParaRPr sz="1400" b="1">
              <a:solidFill>
                <a:srgbClr val="00539F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CXL 内存池化从概念走向量产 (Samsung/SK Hynix/澜起均已送样)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PCIe 7.0 (128 GT/s) 与 224G SerDes 演进将重塑 Retimer 市场</a:t>
            </a:r>
            <a:endParaRPr sz="1200" b="0">
              <a:solidFill>
                <a:srgbClr val="424242"/>
              </a:solidFill>
              <a:latin typeface="微软雅黑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24242"/>
                </a:solidFill>
                <a:latin typeface="微软雅黑"/>
              </a:rPr>
              <a:t>• 硅光/CPO 从终局走向现实 (Ayar Labs $37.5亿估值, Celestial AI $32.5亿被收购)</a:t>
            </a:r>
            <a:endParaRPr sz="1200" b="0">
              <a:solidFill>
                <a:srgbClr val="42424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谢谢！欢迎提问</a:t>
            </a:r>
            <a:endParaRPr sz="3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4D2F0"/>
                </a:solidFill>
                <a:latin typeface="微软雅黑"/>
              </a:rPr>
              <a:t>葛良晨</a:t>
            </a:r>
            <a:endParaRPr sz="2000" b="0">
              <a:solidFill>
                <a:srgbClr val="B4D2F0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BEDC"/>
                </a:solidFill>
                <a:latin typeface="微软雅黑"/>
              </a:rPr>
              <a:t>2026年06月23日</a:t>
            </a:r>
            <a:endParaRPr sz="1400" b="0">
              <a:solidFill>
                <a:srgbClr val="96BED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11660</Words>
  <Application>WPS 演示</Application>
  <PresentationFormat>On-screen Show (4:3)</PresentationFormat>
  <Paragraphs>1056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良辰</cp:lastModifiedBy>
  <cp:revision>2</cp:revision>
  <dcterms:created xsi:type="dcterms:W3CDTF">2026-06-23T02:06:28Z</dcterms:created>
  <dcterms:modified xsi:type="dcterms:W3CDTF">2026-06-23T02:06:28Z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6622183DB263AA8C23EA396AD818834E_42</vt:lpwstr>
  </property>
  <property fmtid="{D5CDD505-2E9C-101B-9397-08002B2CF9AE}" pid="3" name="KSOProductBuildVer">
    <vt:lpwstr>2052-12.1.26016.26016</vt:lpwstr>
  </property>
</Properties>
</file>